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
  </p:handoutMasterIdLst>
  <p:sldIdLst>
    <p:sldId id="256" r:id="rId3"/>
  </p:sldIdLst>
  <p:sldSz cx="9144000" cy="5144135"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53" userDrawn="1">
          <p15:clr>
            <a:srgbClr val="A4A3A4"/>
          </p15:clr>
        </p15:guide>
        <p15:guide id="2" pos="283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75B6"/>
    <a:srgbClr val="DCDDDF"/>
    <a:srgbClr val="595959"/>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735" autoAdjust="0"/>
    <p:restoredTop sz="85444" autoAdjust="0"/>
  </p:normalViewPr>
  <p:slideViewPr>
    <p:cSldViewPr showGuides="1">
      <p:cViewPr varScale="1">
        <p:scale>
          <a:sx n="63" d="100"/>
          <a:sy n="63" d="100"/>
        </p:scale>
        <p:origin x="882" y="72"/>
      </p:cViewPr>
      <p:guideLst>
        <p:guide orient="horz" pos="1453"/>
        <p:guide pos="2834"/>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9" Type="http://schemas.openxmlformats.org/officeDocument/2006/relationships/image" Target="../media/image19.wmf"/><Relationship Id="rId8" Type="http://schemas.openxmlformats.org/officeDocument/2006/relationships/image" Target="../media/image18.wmf"/><Relationship Id="rId7" Type="http://schemas.openxmlformats.org/officeDocument/2006/relationships/image" Target="../media/image17.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1" Type="http://schemas.openxmlformats.org/officeDocument/2006/relationships/image" Target="../media/image21.wmf"/><Relationship Id="rId10" Type="http://schemas.openxmlformats.org/officeDocument/2006/relationships/image" Target="../media/image20.wmf"/><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720FD23-5BEA-7541-A540-663F3DBA1A76}"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C9CAAA2-046A-F44C-8CC9-494930926176}"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ED92F32-08C1-2E4E-8338-2184EAD12C2C}"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381533" y="685800"/>
            <a:ext cx="6094934"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1F287F0-8208-2448-88C4-0AC48D24D189}"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Distinguished reviewers, experts, and fellow colleagues, thank you for giving me the opportunity to present our latest research at this conference. I am [Your Name] from [Your Institution], and today I am honored to introduce our work titled ‘Deep Receiver for Multi-Layer Data Transmission with Superimposed Pilots.’ In my presentation, I will cover the research motivation, the system model, our proposed approach, and the experimental results.</a:t>
            </a:r>
            <a:endParaRPr kumimoji="1" lang="en-US" altLang="zh-CN" dirty="0"/>
          </a:p>
          <a:p>
            <a:endParaRPr kumimoji="1" lang="en-US" altLang="zh-CN" dirty="0"/>
          </a:p>
          <a:p>
            <a:r>
              <a:rPr kumimoji="1" lang="en-US" altLang="zh-CN" dirty="0"/>
              <a:t>Research Motivation:</a:t>
            </a:r>
            <a:endParaRPr kumimoji="1" lang="en-US" altLang="zh-CN" dirty="0"/>
          </a:p>
          <a:p>
            <a:r>
              <a:rPr kumimoji="1" lang="en-US" altLang="zh-CN" dirty="0"/>
              <a:t>We begin by examining the context and challenges that inspired this work. Non-Orthogonal Superimposed Pilot Transmission has drawn significant attention for its high spectral efficiency and reduced pilot overhead. However, while this technique offers notable benefits, traditional deep receivers face issues with generalization under diverse channel conditions and real-world scenarios. These limitations in adapting to dynamic channels and ensuring real-time performance motivated us to explore new approaches that can overcome these challenges.</a:t>
            </a:r>
            <a:endParaRPr kumimoji="1" lang="en-US" altLang="zh-CN" dirty="0"/>
          </a:p>
          <a:p>
            <a:endParaRPr kumimoji="1" lang="en-US" altLang="zh-CN" dirty="0"/>
          </a:p>
          <a:p>
            <a:r>
              <a:rPr kumimoji="1" lang="en-US" altLang="zh-CN" dirty="0"/>
              <a:t>System Model:</a:t>
            </a:r>
            <a:endParaRPr kumimoji="1" lang="en-US" altLang="zh-CN" dirty="0"/>
          </a:p>
          <a:p>
            <a:r>
              <a:rPr kumimoji="1" lang="en-US" altLang="zh-CN" dirty="0"/>
              <a:t>Next, I will walk you through the system model we have developed. Our framework integrates multi-layer data transmission with superimposed pilots, forming the backbone of our study. The model captures the interplay between the transmitted multi-layer signals and the non-orthogonal pilot signals, and it effectively addresses the complex interactions between different transmission layers. This comprehensive model serves as the foundation for developing our innovative receiver design.</a:t>
            </a:r>
            <a:endParaRPr kumimoji="1" lang="en-US" altLang="zh-CN" dirty="0"/>
          </a:p>
          <a:p>
            <a:endParaRPr kumimoji="1" lang="en-US" altLang="zh-CN" dirty="0"/>
          </a:p>
          <a:p>
            <a:r>
              <a:rPr kumimoji="1" lang="en-US" altLang="zh-CN" dirty="0"/>
              <a:t>Proposed Approach:</a:t>
            </a:r>
            <a:endParaRPr kumimoji="1" lang="en-US" altLang="zh-CN" dirty="0"/>
          </a:p>
          <a:p>
            <a:r>
              <a:rPr kumimoji="1" lang="en-US" altLang="zh-CN" dirty="0"/>
              <a:t>Our solution involves two key innovations:</a:t>
            </a:r>
            <a:endParaRPr kumimoji="1" lang="en-US" altLang="zh-CN" dirty="0"/>
          </a:p>
          <a:p>
            <a:endParaRPr kumimoji="1" lang="en-US" altLang="zh-CN" dirty="0"/>
          </a:p>
          <a:p>
            <a:r>
              <a:rPr kumimoji="1" lang="en-US" altLang="zh-CN" dirty="0"/>
              <a:t>Adaptive Deep Receiver Architecture with Meta-Learning:</a:t>
            </a:r>
            <a:endParaRPr kumimoji="1" lang="en-US" altLang="zh-CN" dirty="0"/>
          </a:p>
          <a:p>
            <a:r>
              <a:rPr kumimoji="1" lang="en-US" altLang="zh-CN" dirty="0"/>
              <a:t>We leverage meta-learning techniques to enable the deep receiver to quickly adapt to new channel conditions. By training the model across multiple tasks, our approach facilitates rapid adaptation when facing diverse channel environments, significantly enhancing the generalization capabilities of the receiver.</a:t>
            </a:r>
            <a:endParaRPr kumimoji="1" lang="en-US" altLang="zh-CN" dirty="0"/>
          </a:p>
          <a:p>
            <a:r>
              <a:rPr kumimoji="1" lang="en-US" altLang="zh-CN" dirty="0"/>
              <a:t>Shift-Rx – A Lightweight Receiver Design:</a:t>
            </a:r>
            <a:endParaRPr kumimoji="1" lang="en-US" altLang="zh-CN" dirty="0"/>
          </a:p>
          <a:p>
            <a:r>
              <a:rPr kumimoji="1" lang="en-US" altLang="zh-CN" dirty="0"/>
              <a:t>To tackle the challenge of real-time processing, we propose Shift-Rx, a novel receiver design based on shift operations. This lightweight architecture reduces computational complexity and accelerates signal processing, ensuring that the receiver maintains low latency even in demanding scenarios.</a:t>
            </a:r>
            <a:endParaRPr kumimoji="1" lang="en-US" altLang="zh-CN" dirty="0"/>
          </a:p>
          <a:p>
            <a:r>
              <a:rPr kumimoji="1" lang="en-US" altLang="zh-CN" dirty="0"/>
              <a:t>Experimental Results:</a:t>
            </a:r>
            <a:endParaRPr kumimoji="1" lang="en-US" altLang="zh-CN" dirty="0"/>
          </a:p>
          <a:p>
            <a:r>
              <a:rPr kumimoji="1" lang="en-US" altLang="zh-CN" dirty="0"/>
              <a:t>Finally, I will present our experimental findings. Using a simulation platform that models various dynamic channel conditions, we compared our proposed approach against conventional deep receivers. The results are very promising: our method not only achieves a lower bit error rate (BER) across multiple channel conditions but also demonstrates significantly improved real-time processing capabilities and system robustness. These outcomes validate our design and underscore the potential for practical applications in complex communication environments.</a:t>
            </a:r>
            <a:endParaRPr kumimoji="1" lang="en-US" altLang="zh-CN" dirty="0"/>
          </a:p>
          <a:p>
            <a:endParaRPr kumimoji="1" lang="en-US" altLang="zh-CN" dirty="0"/>
          </a:p>
          <a:p>
            <a:r>
              <a:rPr kumimoji="1" lang="en-US" altLang="zh-CN" dirty="0"/>
              <a:t>In conclusion, our work addresses critical challenges in multi-layer data transmission by introducing an adaptive deep receiver enhanced with meta-learning and a lightweight, shift-based architecture. I look forward to discussing these findings further and exploring future directions during the Q&amp;A session. Thank you.”</a:t>
            </a:r>
            <a:endParaRPr kumimoji="1" lang="en-US" altLang="zh-CN" dirty="0"/>
          </a:p>
        </p:txBody>
      </p:sp>
      <p:sp>
        <p:nvSpPr>
          <p:cNvPr id="4" name="幻灯片编号占位符 3"/>
          <p:cNvSpPr>
            <a:spLocks noGrp="1"/>
          </p:cNvSpPr>
          <p:nvPr>
            <p:ph type="sldNum" sz="quarter" idx="10"/>
          </p:nvPr>
        </p:nvSpPr>
        <p:spPr/>
        <p:txBody>
          <a:bodyPr/>
          <a:lstStyle/>
          <a:p>
            <a:fld id="{91F287F0-8208-2448-88C4-0AC48D24D189}" type="slidenum">
              <a:rPr kumimoji="1" lang="zh-CN" altLang="en-US" smtClean="0"/>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2050"/>
            <a:ext cx="6858000" cy="1791289"/>
          </a:xfrm>
        </p:spPr>
        <p:txBody>
          <a:bodyPr anchor="b"/>
          <a:lstStyle>
            <a:lvl1pPr algn="ctr">
              <a:defRPr sz="45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143000" y="2702418"/>
            <a:ext cx="6858000" cy="1242231"/>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8035" indent="0" algn="ctr">
              <a:buNone/>
              <a:defRPr sz="1200"/>
            </a:lvl7pPr>
            <a:lvl8pPr marL="2400935" indent="0" algn="ctr">
              <a:buNone/>
              <a:defRPr sz="1200"/>
            </a:lvl8pPr>
            <a:lvl9pPr marL="2743835" indent="0" algn="ctr">
              <a:buNone/>
              <a:defRPr sz="12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C5A1F0EB-D808-D047-94B8-E56F1C405F78}"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D0F9BC-67BD-4BD0-833C-67D97B0E4F41}" type="slidenum">
              <a:rPr lang="zh-CN" altLang="en-US" smtClean="0"/>
            </a:fld>
            <a:endParaRPr lang="zh-CN" altLang="en-US"/>
          </a:p>
        </p:txBody>
      </p:sp>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t="16175" b="393"/>
          <a:stretch>
            <a:fillRect/>
          </a:stretch>
        </p:blipFill>
        <p:spPr>
          <a:xfrm>
            <a:off x="0" y="-20545"/>
            <a:ext cx="9144000" cy="5165739"/>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AE29823A-6344-5D49-8E20-0D682D3F914F}"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D0F9BC-67BD-4BD0-833C-67D97B0E4F41}"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726"/>
            <a:ext cx="7886700" cy="2140257"/>
          </a:xfrm>
        </p:spPr>
        <p:txBody>
          <a:bodyPr anchor="b"/>
          <a:lstStyle>
            <a:lvl1pPr>
              <a:defRPr sz="45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623888" y="3443231"/>
            <a:ext cx="7886700" cy="1125511"/>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8035" indent="0">
              <a:buNone/>
              <a:defRPr sz="1200">
                <a:solidFill>
                  <a:schemeClr val="tx1">
                    <a:tint val="75000"/>
                  </a:schemeClr>
                </a:solidFill>
              </a:defRPr>
            </a:lvl7pPr>
            <a:lvl8pPr marL="2400935" indent="0">
              <a:buNone/>
              <a:defRPr sz="1200">
                <a:solidFill>
                  <a:schemeClr val="tx1">
                    <a:tint val="75000"/>
                  </a:schemeClr>
                </a:solidFill>
              </a:defRPr>
            </a:lvl8pPr>
            <a:lvl9pPr marL="2743835" indent="0">
              <a:buNone/>
              <a:defRPr sz="12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41DA7499-8FF3-CA4A-9E01-D82AC6627F96}"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D0F9BC-67BD-4BD0-833C-67D97B0E4F41}"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369670"/>
            <a:ext cx="3886200" cy="326457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29150" y="1369670"/>
            <a:ext cx="3886200" cy="326457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44B9C301-FAD6-854F-BDD9-19C2DD040D6D}"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D0F9BC-67BD-4BD0-833C-67D97B0E4F41}"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934"/>
            <a:ext cx="7886700" cy="994499"/>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1" y="1261288"/>
            <a:ext cx="3868340" cy="618138"/>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629841" y="1879425"/>
            <a:ext cx="3868340" cy="276435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29150" y="1261288"/>
            <a:ext cx="3887391" cy="618138"/>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29150" y="1879425"/>
            <a:ext cx="3887391" cy="276435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5979177-F50D-F142-B78F-A3B90FB6DE7D}"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DD0F9BC-67BD-4BD0-833C-67D97B0E4F41}"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C8FDEE6F-520A-5549-97A2-4CEA54ED6B47}"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DD0F9BC-67BD-4BD0-833C-67D97B0E4F41}"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2847DE6-9F95-E24D-9ADB-1CEFED5391AC}"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DD0F9BC-67BD-4BD0-833C-67D97B0E4F4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3013"/>
            <a:ext cx="2949178" cy="1200546"/>
          </a:xfrm>
        </p:spPr>
        <p:txBody>
          <a:bodyPr anchor="b"/>
          <a:lstStyle>
            <a:lvl1pPr>
              <a:defRPr sz="2400"/>
            </a:lvl1pPr>
          </a:lstStyle>
          <a:p>
            <a:r>
              <a:rPr lang="zh-CN" altLang="en-US"/>
              <a:t>单击此处编辑母版标题样式</a:t>
            </a:r>
            <a:endParaRPr lang="zh-CN" altLang="en-US"/>
          </a:p>
        </p:txBody>
      </p:sp>
      <p:sp>
        <p:nvSpPr>
          <p:cNvPr id="3" name="内容占位符 2"/>
          <p:cNvSpPr>
            <a:spLocks noGrp="1"/>
          </p:cNvSpPr>
          <p:nvPr>
            <p:ph idx="1"/>
          </p:nvPr>
        </p:nvSpPr>
        <p:spPr>
          <a:xfrm>
            <a:off x="3887391" y="740812"/>
            <a:ext cx="4629150" cy="36564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629841" y="1543558"/>
            <a:ext cx="2949178" cy="285963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8035" indent="0">
              <a:buNone/>
              <a:defRPr sz="750"/>
            </a:lvl7pPr>
            <a:lvl8pPr marL="2400935" indent="0">
              <a:buNone/>
              <a:defRPr sz="750"/>
            </a:lvl8pPr>
            <a:lvl9pPr marL="2743835"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82CC6D00-2199-9445-A95A-C3B439CD51BA}"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D0F9BC-67BD-4BD0-833C-67D97B0E4F41}"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3013"/>
            <a:ext cx="2949178" cy="1200546"/>
          </a:xfrm>
        </p:spPr>
        <p:txBody>
          <a:bodyPr anchor="b"/>
          <a:lstStyle>
            <a:lvl1pPr>
              <a:defRPr sz="24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3887391" y="740812"/>
            <a:ext cx="4629150" cy="3656422"/>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629841" y="1543558"/>
            <a:ext cx="2949178" cy="285963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8035" indent="0">
              <a:buNone/>
              <a:defRPr sz="750"/>
            </a:lvl7pPr>
            <a:lvl8pPr marL="2400935" indent="0">
              <a:buNone/>
              <a:defRPr sz="750"/>
            </a:lvl8pPr>
            <a:lvl9pPr marL="2743835" indent="0">
              <a:buNone/>
              <a:defRPr sz="75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D1BE6A5-2870-B049-8D7F-E67E086AE2DC}"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D0F9BC-67BD-4BD0-833C-67D97B0E4F41}"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C326BB8-62F5-C14C-8C1B-40F6E851AC04}"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D0F9BC-67BD-4BD0-833C-67D97B0E4F4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934"/>
            <a:ext cx="1971675" cy="4360314"/>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273934"/>
            <a:ext cx="5800725" cy="4360314"/>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C3DA019C-536C-F444-962D-E20EC6965FD7}"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D0F9BC-67BD-4BD0-833C-67D97B0E4F41}"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934"/>
            <a:ext cx="7886700" cy="994499"/>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8650" y="1369670"/>
            <a:ext cx="7886700" cy="326457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628650" y="4768833"/>
            <a:ext cx="2057400" cy="273934"/>
          </a:xfrm>
          <a:prstGeom prst="rect">
            <a:avLst/>
          </a:prstGeom>
        </p:spPr>
        <p:txBody>
          <a:bodyPr vert="horz" lIns="91440" tIns="45720" rIns="91440" bIns="45720" rtlCol="0" anchor="ctr"/>
          <a:lstStyle>
            <a:lvl1pPr algn="l">
              <a:defRPr sz="900">
                <a:solidFill>
                  <a:schemeClr val="tx1">
                    <a:tint val="75000"/>
                  </a:schemeClr>
                </a:solidFill>
              </a:defRPr>
            </a:lvl1pPr>
          </a:lstStyle>
          <a:p>
            <a:fld id="{D663BAD2-D648-F641-9141-590F3849AF41}" type="datetime1">
              <a:rPr lang="zh-CN" altLang="en-US" smtClean="0"/>
            </a:fld>
            <a:endParaRPr lang="zh-CN" altLang="en-US"/>
          </a:p>
        </p:txBody>
      </p:sp>
      <p:sp>
        <p:nvSpPr>
          <p:cNvPr id="5" name="页脚占位符 4"/>
          <p:cNvSpPr>
            <a:spLocks noGrp="1"/>
          </p:cNvSpPr>
          <p:nvPr>
            <p:ph type="ftr" sz="quarter" idx="3"/>
          </p:nvPr>
        </p:nvSpPr>
        <p:spPr>
          <a:xfrm>
            <a:off x="3028950" y="4768833"/>
            <a:ext cx="3086100" cy="27393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4768833"/>
            <a:ext cx="2057400" cy="273934"/>
          </a:xfrm>
          <a:prstGeom prst="rect">
            <a:avLst/>
          </a:prstGeom>
        </p:spPr>
        <p:txBody>
          <a:bodyPr vert="horz" lIns="91440" tIns="45720" rIns="91440" bIns="45720" rtlCol="0" anchor="ctr"/>
          <a:lstStyle>
            <a:lvl1pPr algn="r">
              <a:defRPr sz="900">
                <a:solidFill>
                  <a:schemeClr val="tx1">
                    <a:tint val="75000"/>
                  </a:schemeClr>
                </a:solidFill>
              </a:defRPr>
            </a:lvl1pPr>
          </a:lstStyle>
          <a:p>
            <a:fld id="{DDD0F9BC-67BD-4BD0-833C-67D97B0E4F41}"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65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3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285"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jpeg"/><Relationship Id="rId34" Type="http://schemas.openxmlformats.org/officeDocument/2006/relationships/notesSlide" Target="../notesSlides/notesSlide1.xml"/><Relationship Id="rId33" Type="http://schemas.openxmlformats.org/officeDocument/2006/relationships/vmlDrawing" Target="../drawings/vmlDrawing1.vml"/><Relationship Id="rId32" Type="http://schemas.openxmlformats.org/officeDocument/2006/relationships/slideLayout" Target="../slideLayouts/slideLayout1.xml"/><Relationship Id="rId31" Type="http://schemas.openxmlformats.org/officeDocument/2006/relationships/image" Target="../media/image21.wmf"/><Relationship Id="rId30" Type="http://schemas.openxmlformats.org/officeDocument/2006/relationships/oleObject" Target="../embeddings/oleObject11.bin"/><Relationship Id="rId3" Type="http://schemas.openxmlformats.org/officeDocument/2006/relationships/image" Target="../media/image4.jpeg"/><Relationship Id="rId29" Type="http://schemas.openxmlformats.org/officeDocument/2006/relationships/image" Target="../media/image20.wmf"/><Relationship Id="rId28" Type="http://schemas.openxmlformats.org/officeDocument/2006/relationships/oleObject" Target="../embeddings/oleObject10.bin"/><Relationship Id="rId27" Type="http://schemas.openxmlformats.org/officeDocument/2006/relationships/image" Target="../media/image19.wmf"/><Relationship Id="rId26" Type="http://schemas.openxmlformats.org/officeDocument/2006/relationships/oleObject" Target="../embeddings/oleObject9.bin"/><Relationship Id="rId25" Type="http://schemas.openxmlformats.org/officeDocument/2006/relationships/image" Target="../media/image18.wmf"/><Relationship Id="rId24" Type="http://schemas.openxmlformats.org/officeDocument/2006/relationships/oleObject" Target="../embeddings/oleObject8.bin"/><Relationship Id="rId23" Type="http://schemas.openxmlformats.org/officeDocument/2006/relationships/image" Target="../media/image17.wmf"/><Relationship Id="rId22" Type="http://schemas.openxmlformats.org/officeDocument/2006/relationships/oleObject" Target="../embeddings/oleObject7.bin"/><Relationship Id="rId21" Type="http://schemas.openxmlformats.org/officeDocument/2006/relationships/image" Target="../media/image16.wmf"/><Relationship Id="rId20" Type="http://schemas.openxmlformats.org/officeDocument/2006/relationships/oleObject" Target="../embeddings/oleObject6.bin"/><Relationship Id="rId2" Type="http://schemas.openxmlformats.org/officeDocument/2006/relationships/image" Target="../media/image3.png"/><Relationship Id="rId19" Type="http://schemas.openxmlformats.org/officeDocument/2006/relationships/image" Target="../media/image15.wmf"/><Relationship Id="rId18" Type="http://schemas.openxmlformats.org/officeDocument/2006/relationships/oleObject" Target="../embeddings/oleObject5.bin"/><Relationship Id="rId17" Type="http://schemas.openxmlformats.org/officeDocument/2006/relationships/image" Target="../media/image14.wmf"/><Relationship Id="rId16" Type="http://schemas.openxmlformats.org/officeDocument/2006/relationships/oleObject" Target="../embeddings/oleObject4.bin"/><Relationship Id="rId15" Type="http://schemas.openxmlformats.org/officeDocument/2006/relationships/image" Target="../media/image13.wmf"/><Relationship Id="rId14" Type="http://schemas.openxmlformats.org/officeDocument/2006/relationships/oleObject" Target="../embeddings/oleObject3.bin"/><Relationship Id="rId13" Type="http://schemas.openxmlformats.org/officeDocument/2006/relationships/image" Target="../media/image12.wmf"/><Relationship Id="rId12" Type="http://schemas.openxmlformats.org/officeDocument/2006/relationships/oleObject" Target="../embeddings/oleObject2.bin"/><Relationship Id="rId11" Type="http://schemas.openxmlformats.org/officeDocument/2006/relationships/image" Target="../media/image11.wmf"/><Relationship Id="rId10" Type="http://schemas.openxmlformats.org/officeDocument/2006/relationships/oleObject" Target="../embeddings/oleObject1.bin"/><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nip Diagonal Corner Rectangle 21"/>
          <p:cNvSpPr/>
          <p:nvPr/>
        </p:nvSpPr>
        <p:spPr>
          <a:xfrm>
            <a:off x="4416425" y="2751455"/>
            <a:ext cx="4570095" cy="2113280"/>
          </a:xfrm>
          <a:prstGeom prst="snip2DiagRect">
            <a:avLst>
              <a:gd name="adj1" fmla="val 0"/>
              <a:gd name="adj2" fmla="val 3283"/>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4289" tIns="34289" rIns="34289" bIns="34289" numCol="1" spcCol="38100" rtlCol="0" anchor="ctr">
            <a:noAutofit/>
          </a:bodyPr>
          <a:p>
            <a:pPr marL="0" marR="0" indent="0" algn="l" defTabSz="326390" rtl="0" fontAlgn="auto" latinLnBrk="0" hangingPunct="0">
              <a:lnSpc>
                <a:spcPct val="100000"/>
              </a:lnSpc>
              <a:spcBef>
                <a:spcPts val="0"/>
              </a:spcBef>
              <a:spcAft>
                <a:spcPts val="0"/>
              </a:spcAft>
              <a:buClrTx/>
              <a:buSzTx/>
              <a:buFontTx/>
              <a:buNone/>
            </a:pPr>
            <a:endParaRPr kumimoji="0" lang="en-US" sz="9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5" name="Snip Diagonal Corner Rectangle 21"/>
          <p:cNvSpPr/>
          <p:nvPr/>
        </p:nvSpPr>
        <p:spPr>
          <a:xfrm>
            <a:off x="2683193" y="664422"/>
            <a:ext cx="4008120" cy="2043589"/>
          </a:xfrm>
          <a:prstGeom prst="snip2DiagRect">
            <a:avLst>
              <a:gd name="adj1" fmla="val 0"/>
              <a:gd name="adj2" fmla="val 3283"/>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4289" tIns="34289" rIns="34289" bIns="34289" numCol="1" spcCol="38100" rtlCol="0" anchor="ctr">
            <a:noAutofit/>
          </a:bodyPr>
          <a:p>
            <a:pPr marL="0" marR="0" indent="0" algn="l" defTabSz="326390" rtl="0" fontAlgn="auto" latinLnBrk="0" hangingPunct="0">
              <a:lnSpc>
                <a:spcPct val="100000"/>
              </a:lnSpc>
              <a:spcBef>
                <a:spcPts val="0"/>
              </a:spcBef>
              <a:spcAft>
                <a:spcPts val="0"/>
              </a:spcAft>
              <a:buClrTx/>
              <a:buSzTx/>
              <a:buFontTx/>
              <a:buNone/>
            </a:pPr>
            <a:endParaRPr kumimoji="0" lang="en-US" sz="9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2" name="Snip Diagonal Corner Rectangle 21"/>
          <p:cNvSpPr/>
          <p:nvPr/>
        </p:nvSpPr>
        <p:spPr>
          <a:xfrm>
            <a:off x="119539" y="664422"/>
            <a:ext cx="2475071" cy="2046446"/>
          </a:xfrm>
          <a:prstGeom prst="snip2DiagRect">
            <a:avLst>
              <a:gd name="adj1" fmla="val 0"/>
              <a:gd name="adj2" fmla="val 3283"/>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4289" tIns="34289" rIns="34289" bIns="34289" numCol="1" spcCol="38100" rtlCol="0" anchor="ctr">
            <a:noAutofit/>
          </a:bodyPr>
          <a:p>
            <a:pPr marL="0" marR="0" indent="0" algn="l" defTabSz="326390" rtl="0" fontAlgn="auto" latinLnBrk="0" hangingPunct="0">
              <a:lnSpc>
                <a:spcPct val="100000"/>
              </a:lnSpc>
              <a:spcBef>
                <a:spcPts val="0"/>
              </a:spcBef>
              <a:spcAft>
                <a:spcPts val="0"/>
              </a:spcAft>
              <a:buClrTx/>
              <a:buSzTx/>
              <a:buFontTx/>
              <a:buNone/>
            </a:pPr>
            <a:endParaRPr kumimoji="0" lang="en-US" sz="9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14" name="Snip Diagonal Corner Rectangle 21"/>
          <p:cNvSpPr/>
          <p:nvPr/>
        </p:nvSpPr>
        <p:spPr>
          <a:xfrm>
            <a:off x="144145" y="2744470"/>
            <a:ext cx="4166235" cy="2120900"/>
          </a:xfrm>
          <a:prstGeom prst="snip2DiagRect">
            <a:avLst>
              <a:gd name="adj1" fmla="val 0"/>
              <a:gd name="adj2" fmla="val 3283"/>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4289" tIns="34289" rIns="34289" bIns="34289" numCol="1" spcCol="38100" rtlCol="0" anchor="ctr">
            <a:noAutofit/>
          </a:bodyPr>
          <a:p>
            <a:pPr marL="0" marR="0" indent="0" algn="l" defTabSz="326390" rtl="0" fontAlgn="auto" latinLnBrk="0" hangingPunct="0">
              <a:lnSpc>
                <a:spcPct val="100000"/>
              </a:lnSpc>
              <a:spcBef>
                <a:spcPts val="0"/>
              </a:spcBef>
              <a:spcAft>
                <a:spcPts val="0"/>
              </a:spcAft>
              <a:buClrTx/>
              <a:buSzTx/>
              <a:buFontTx/>
              <a:buNone/>
            </a:pPr>
            <a:r>
              <a:rPr kumimoji="0" lang="en-US" altLang="zh-CN" sz="900" b="0" i="0" u="none" strike="noStrike" cap="none" spc="0" normalizeH="0" baseline="0">
                <a:ln>
                  <a:noFill/>
                </a:ln>
                <a:solidFill>
                  <a:srgbClr val="000000"/>
                </a:solidFill>
                <a:effectLst/>
                <a:uFillTx/>
                <a:latin typeface="+mn-lt"/>
                <a:ea typeface="+mn-ea"/>
                <a:cs typeface="+mn-cs"/>
                <a:sym typeface="Calibri" panose="020F0502020204030204"/>
              </a:rPr>
              <a:t>Then, the superimposed symbols are transmitted through the channel and then sent to the UE to obtain the received signal, that is</a:t>
            </a:r>
            <a:endParaRPr kumimoji="0" lang="en-US" sz="900" b="0" i="0" u="none" strike="noStrike" cap="none" spc="0" normalizeH="0" baseline="0">
              <a:ln>
                <a:noFill/>
              </a:ln>
              <a:solidFill>
                <a:srgbClr val="000000"/>
              </a:solidFill>
              <a:effectLst/>
              <a:uFillTx/>
              <a:latin typeface="+mn-lt"/>
              <a:ea typeface="+mn-ea"/>
              <a:cs typeface="+mn-cs"/>
              <a:sym typeface="Calibri" panose="020F0502020204030204"/>
            </a:endParaRPr>
          </a:p>
        </p:txBody>
      </p:sp>
      <p:sp>
        <p:nvSpPr>
          <p:cNvPr id="3" name="TextBox 35"/>
          <p:cNvSpPr txBox="1"/>
          <p:nvPr/>
        </p:nvSpPr>
        <p:spPr>
          <a:xfrm>
            <a:off x="624364" y="-71305"/>
            <a:ext cx="7826693" cy="368300"/>
          </a:xfrm>
          <a:prstGeom prst="rect">
            <a:avLst/>
          </a:prstGeom>
          <a:ln w="12700">
            <a:miter lim="400000"/>
          </a:ln>
        </p:spPr>
        <p:txBody>
          <a:bodyPr wrap="square" lIns="10715" rIns="10715">
            <a:spAutoFit/>
          </a:bodyPr>
          <a:lstStyle>
            <a:lvl1pPr>
              <a:defRPr sz="5500">
                <a:latin typeface="Arial" panose="020B0604020202020204"/>
                <a:ea typeface="Arial" panose="020B0604020202020204"/>
                <a:cs typeface="Arial" panose="020B0604020202020204"/>
                <a:sym typeface="Arial" panose="020B0604020202020204"/>
              </a:defRPr>
            </a:lvl1pPr>
          </a:lstStyle>
          <a:p>
            <a:pPr algn="ctr"/>
            <a:r>
              <a:rPr lang="en-US" altLang="zh-CN" sz="1800" b="1" dirty="0">
                <a:latin typeface="Times New Roman" panose="02020603050405020304" pitchFamily="18" charset="0"/>
                <a:ea typeface="+mj-ea"/>
                <a:cs typeface="Times New Roman" panose="02020603050405020304" pitchFamily="18" charset="0"/>
              </a:rPr>
              <a:t>Deep Receiver for Multi-Layer Data Transmission with Superimposed Pilots</a:t>
            </a:r>
            <a:endParaRPr lang="en-US" altLang="zh-CN" sz="1800" b="1" dirty="0">
              <a:latin typeface="Times New Roman" panose="02020603050405020304" pitchFamily="18" charset="0"/>
              <a:ea typeface="+mj-ea"/>
              <a:cs typeface="Times New Roman" panose="02020603050405020304" pitchFamily="18" charset="0"/>
            </a:endParaRPr>
          </a:p>
        </p:txBody>
      </p:sp>
      <p:sp>
        <p:nvSpPr>
          <p:cNvPr id="33" name="TextBox 38"/>
          <p:cNvSpPr txBox="1"/>
          <p:nvPr/>
        </p:nvSpPr>
        <p:spPr>
          <a:xfrm>
            <a:off x="484346" y="638307"/>
            <a:ext cx="1809750" cy="235585"/>
          </a:xfrm>
          <a:prstGeom prst="rect">
            <a:avLst/>
          </a:prstGeom>
          <a:ln w="12700">
            <a:miter lim="400000"/>
          </a:ln>
          <a:effectLst>
            <a:outerShdw blurRad="50800" dist="38100" dir="2700000" algn="tl" rotWithShape="0">
              <a:prstClr val="black">
                <a:alpha val="40000"/>
              </a:prstClr>
            </a:outerShdw>
          </a:effectLst>
        </p:spPr>
        <p:txBody>
          <a:bodyPr wrap="square" lIns="10715" rIns="10715">
            <a:spAutoFit/>
          </a:bodyPr>
          <a:lstStyle>
            <a:lvl1pPr>
              <a:defRPr sz="3400">
                <a:latin typeface="Arial" panose="020B0604020202020204"/>
                <a:ea typeface="Arial" panose="020B0604020202020204"/>
                <a:cs typeface="Arial" panose="020B0604020202020204"/>
                <a:sym typeface="Arial" panose="020B0604020202020204"/>
              </a:defRPr>
            </a:lvl1pPr>
          </a:lstStyle>
          <a:p>
            <a:pPr algn="ctr"/>
            <a:r>
              <a:rPr lang="en-US" sz="940" dirty="0">
                <a:latin typeface="Times New Roman" panose="02020603050405020304" pitchFamily="18" charset="0"/>
                <a:cs typeface="Times New Roman" panose="02020603050405020304" pitchFamily="18" charset="0"/>
              </a:rPr>
              <a:t>Motivation</a:t>
            </a:r>
            <a:endParaRPr sz="940" dirty="0">
              <a:latin typeface="Times New Roman" panose="02020603050405020304" pitchFamily="18" charset="0"/>
              <a:cs typeface="Times New Roman" panose="02020603050405020304" pitchFamily="18" charset="0"/>
            </a:endParaRPr>
          </a:p>
        </p:txBody>
      </p:sp>
      <p:sp>
        <p:nvSpPr>
          <p:cNvPr id="5" name="TextBox 43"/>
          <p:cNvSpPr txBox="1"/>
          <p:nvPr/>
        </p:nvSpPr>
        <p:spPr>
          <a:xfrm>
            <a:off x="2222153" y="256742"/>
            <a:ext cx="5084862" cy="396875"/>
          </a:xfrm>
          <a:prstGeom prst="rect">
            <a:avLst/>
          </a:prstGeom>
          <a:ln w="12700">
            <a:miter lim="400000"/>
          </a:ln>
        </p:spPr>
        <p:txBody>
          <a:bodyPr wrap="square" lIns="10715" rIns="10715">
            <a:spAutoFit/>
          </a:bodyPr>
          <a:lstStyle>
            <a:lvl1pPr>
              <a:defRPr sz="3400">
                <a:latin typeface="Arial" panose="020B0604020202020204"/>
                <a:ea typeface="Arial" panose="020B0604020202020204"/>
                <a:cs typeface="Arial" panose="020B0604020202020204"/>
                <a:sym typeface="Arial" panose="020B0604020202020204"/>
              </a:defRPr>
            </a:lvl1pPr>
          </a:lstStyle>
          <a:p>
            <a:pPr indent="0" algn="ctr" fontAlgn="auto">
              <a:spcBef>
                <a:spcPts val="300"/>
              </a:spcBef>
            </a:pPr>
            <a:r>
              <a:rPr lang="en-US" altLang="zh-CN" sz="940" dirty="0">
                <a:latin typeface="Times New Roman" panose="02020603050405020304" pitchFamily="18" charset="0"/>
                <a:cs typeface="Times New Roman" panose="02020603050405020304" pitchFamily="18" charset="0"/>
              </a:rPr>
              <a:t>Jian Zou</a:t>
            </a:r>
            <a:r>
              <a:rPr lang="en-US" altLang="zh-CN" sz="940" baseline="30000" dirty="0">
                <a:latin typeface="Times New Roman" panose="02020603050405020304" pitchFamily="18" charset="0"/>
                <a:cs typeface="Times New Roman" panose="02020603050405020304" pitchFamily="18" charset="0"/>
              </a:rPr>
              <a:t>1, 2</a:t>
            </a:r>
            <a:r>
              <a:rPr lang="en-US" sz="940" dirty="0">
                <a:latin typeface="Times New Roman" panose="02020603050405020304" pitchFamily="18" charset="0"/>
                <a:cs typeface="Times New Roman" panose="02020603050405020304" pitchFamily="18" charset="0"/>
              </a:rPr>
              <a:t>     </a:t>
            </a:r>
            <a:r>
              <a:rPr lang="en-US" altLang="zh-CN" sz="940" dirty="0">
                <a:latin typeface="Times New Roman" panose="02020603050405020304" pitchFamily="18" charset="0"/>
                <a:cs typeface="Times New Roman" panose="02020603050405020304" pitchFamily="18" charset="0"/>
              </a:rPr>
              <a:t>Jian Xiao</a:t>
            </a:r>
            <a:r>
              <a:rPr lang="en-US" altLang="zh-CN" sz="940" baseline="30000" dirty="0">
                <a:latin typeface="Times New Roman" panose="02020603050405020304" pitchFamily="18" charset="0"/>
                <a:cs typeface="Times New Roman" panose="02020603050405020304" pitchFamily="18" charset="0"/>
              </a:rPr>
              <a:t>3</a:t>
            </a:r>
            <a:r>
              <a:rPr lang="en-US" sz="940" dirty="0">
                <a:latin typeface="Times New Roman" panose="02020603050405020304" pitchFamily="18" charset="0"/>
                <a:cs typeface="Times New Roman" panose="02020603050405020304" pitchFamily="18" charset="0"/>
              </a:rPr>
              <a:t>    </a:t>
            </a:r>
            <a:r>
              <a:rPr lang="en-US" altLang="zh-CN" sz="940" dirty="0">
                <a:latin typeface="Times New Roman" panose="02020603050405020304" pitchFamily="18" charset="0"/>
                <a:cs typeface="Times New Roman" panose="02020603050405020304" pitchFamily="18" charset="0"/>
              </a:rPr>
              <a:t>Qingyu Mao</a:t>
            </a:r>
            <a:r>
              <a:rPr lang="en-US" altLang="zh-CN" sz="940" baseline="30000" dirty="0">
                <a:latin typeface="Times New Roman" panose="02020603050405020304" pitchFamily="18" charset="0"/>
                <a:cs typeface="Times New Roman" panose="02020603050405020304" pitchFamily="18" charset="0"/>
              </a:rPr>
              <a:t>1</a:t>
            </a:r>
            <a:r>
              <a:rPr lang="en-US" sz="940" dirty="0">
                <a:latin typeface="Times New Roman" panose="02020603050405020304" pitchFamily="18" charset="0"/>
                <a:cs typeface="Times New Roman" panose="02020603050405020304" pitchFamily="18" charset="0"/>
              </a:rPr>
              <a:t>     </a:t>
            </a:r>
            <a:r>
              <a:rPr lang="en-US" altLang="zh-CN" sz="940" dirty="0">
                <a:latin typeface="Times New Roman" panose="02020603050405020304" pitchFamily="18" charset="0"/>
                <a:cs typeface="Times New Roman" panose="02020603050405020304" pitchFamily="18" charset="0"/>
              </a:rPr>
              <a:t>Shuai Liu</a:t>
            </a:r>
            <a:r>
              <a:rPr lang="en-US" altLang="zh-CN" sz="940" baseline="30000" dirty="0">
                <a:latin typeface="Times New Roman" panose="02020603050405020304" pitchFamily="18" charset="0"/>
                <a:cs typeface="Times New Roman" panose="02020603050405020304" pitchFamily="18" charset="0"/>
                <a:sym typeface="+mn-ea"/>
              </a:rPr>
              <a:t>1, 2</a:t>
            </a:r>
            <a:r>
              <a:rPr lang="en-US" sz="940" dirty="0">
                <a:latin typeface="Times New Roman" panose="02020603050405020304" pitchFamily="18" charset="0"/>
                <a:cs typeface="Times New Roman" panose="02020603050405020304" pitchFamily="18" charset="0"/>
                <a:sym typeface="+mn-ea"/>
              </a:rPr>
              <a:t>     </a:t>
            </a:r>
            <a:r>
              <a:rPr lang="en-US" altLang="zh-CN" sz="940" dirty="0">
                <a:latin typeface="Times New Roman" panose="02020603050405020304" pitchFamily="18" charset="0"/>
                <a:cs typeface="Times New Roman" panose="02020603050405020304" pitchFamily="18" charset="0"/>
              </a:rPr>
              <a:t>Bohuai Xiao</a:t>
            </a:r>
            <a:r>
              <a:rPr lang="en-US" altLang="zh-CN" sz="940" baseline="30000" dirty="0">
                <a:latin typeface="Times New Roman" panose="02020603050405020304" pitchFamily="18" charset="0"/>
                <a:cs typeface="Times New Roman" panose="02020603050405020304" pitchFamily="18" charset="0"/>
                <a:sym typeface="+mn-ea"/>
              </a:rPr>
              <a:t>1</a:t>
            </a:r>
            <a:r>
              <a:rPr lang="en-US" sz="940" dirty="0">
                <a:latin typeface="Times New Roman" panose="02020603050405020304" pitchFamily="18" charset="0"/>
                <a:cs typeface="Times New Roman" panose="02020603050405020304" pitchFamily="18" charset="0"/>
                <a:sym typeface="+mn-ea"/>
              </a:rPr>
              <a:t>     </a:t>
            </a:r>
            <a:r>
              <a:rPr lang="en-US" altLang="zh-CN" sz="940" dirty="0">
                <a:latin typeface="Times New Roman" panose="02020603050405020304" pitchFamily="18" charset="0"/>
                <a:cs typeface="Times New Roman" panose="02020603050405020304" pitchFamily="18" charset="0"/>
              </a:rPr>
              <a:t>Yongsheng Liang</a:t>
            </a:r>
            <a:r>
              <a:rPr lang="en-US" altLang="zh-CN" sz="940" baseline="30000" dirty="0">
                <a:latin typeface="Times New Roman" panose="02020603050405020304" pitchFamily="18" charset="0"/>
                <a:cs typeface="Times New Roman" panose="02020603050405020304" pitchFamily="18" charset="0"/>
                <a:sym typeface="+mn-ea"/>
              </a:rPr>
              <a:t>1, 2</a:t>
            </a:r>
            <a:r>
              <a:rPr lang="en-US" altLang="zh-CN" sz="940" dirty="0">
                <a:latin typeface="Times New Roman" panose="02020603050405020304" pitchFamily="18" charset="0"/>
                <a:cs typeface="Times New Roman" panose="02020603050405020304" pitchFamily="18" charset="0"/>
              </a:rPr>
              <a:t>*</a:t>
            </a:r>
            <a:endParaRPr lang="en-US" altLang="zh-CN" sz="940" dirty="0">
              <a:latin typeface="Times New Roman" panose="02020603050405020304" pitchFamily="18" charset="0"/>
              <a:cs typeface="Times New Roman" panose="02020603050405020304" pitchFamily="18" charset="0"/>
            </a:endParaRPr>
          </a:p>
          <a:p>
            <a:pPr indent="0" algn="ctr" fontAlgn="auto">
              <a:spcBef>
                <a:spcPts val="300"/>
              </a:spcBef>
            </a:pPr>
            <a:r>
              <a:rPr lang="en-US" altLang="zh-CN" sz="800" dirty="0">
                <a:latin typeface="Times New Roman" panose="02020603050405020304" pitchFamily="18" charset="0"/>
                <a:cs typeface="Times New Roman" panose="02020603050405020304" pitchFamily="18" charset="0"/>
              </a:rPr>
              <a:t>1.Shenzhen University</a:t>
            </a:r>
            <a:r>
              <a:rPr lang="en-US" sz="800" dirty="0">
                <a:latin typeface="Times New Roman" panose="02020603050405020304" pitchFamily="18" charset="0"/>
                <a:cs typeface="Times New Roman" panose="02020603050405020304" pitchFamily="18" charset="0"/>
                <a:sym typeface="+mn-ea"/>
              </a:rPr>
              <a:t>        2.</a:t>
            </a:r>
            <a:r>
              <a:rPr lang="en-US" altLang="zh-CN" sz="800" dirty="0">
                <a:latin typeface="Times New Roman" panose="02020603050405020304" pitchFamily="18" charset="0"/>
                <a:cs typeface="Times New Roman" panose="02020603050405020304" pitchFamily="18" charset="0"/>
              </a:rPr>
              <a:t>Shenzhen Technology University</a:t>
            </a:r>
            <a:r>
              <a:rPr lang="en-US" sz="800" dirty="0">
                <a:latin typeface="Times New Roman" panose="02020603050405020304" pitchFamily="18" charset="0"/>
                <a:cs typeface="Times New Roman" panose="02020603050405020304" pitchFamily="18" charset="0"/>
                <a:sym typeface="+mn-ea"/>
              </a:rPr>
              <a:t>        3.</a:t>
            </a:r>
            <a:r>
              <a:rPr lang="en-US" altLang="zh-CN" sz="800" dirty="0">
                <a:latin typeface="Times New Roman" panose="02020603050405020304" pitchFamily="18" charset="0"/>
                <a:cs typeface="Times New Roman" panose="02020603050405020304" pitchFamily="18" charset="0"/>
              </a:rPr>
              <a:t>Central China Normal University</a:t>
            </a:r>
            <a:endParaRPr lang="en-US" altLang="zh-CN" sz="800" dirty="0">
              <a:latin typeface="Times New Roman" panose="02020603050405020304" pitchFamily="18" charset="0"/>
              <a:cs typeface="Times New Roman" panose="02020603050405020304" pitchFamily="18" charset="0"/>
            </a:endParaRPr>
          </a:p>
        </p:txBody>
      </p:sp>
      <p:sp>
        <p:nvSpPr>
          <p:cNvPr id="16" name="TextBox 38"/>
          <p:cNvSpPr txBox="1"/>
          <p:nvPr/>
        </p:nvSpPr>
        <p:spPr>
          <a:xfrm>
            <a:off x="2951798" y="638307"/>
            <a:ext cx="3507105" cy="235585"/>
          </a:xfrm>
          <a:prstGeom prst="rect">
            <a:avLst/>
          </a:prstGeom>
          <a:ln w="12700">
            <a:miter lim="400000"/>
          </a:ln>
          <a:effectLst>
            <a:outerShdw blurRad="50800" dist="38100" dir="2700000" algn="tl" rotWithShape="0">
              <a:prstClr val="black">
                <a:alpha val="40000"/>
              </a:prstClr>
            </a:outerShdw>
          </a:effectLst>
        </p:spPr>
        <p:txBody>
          <a:bodyPr wrap="square" lIns="10715" rIns="10715">
            <a:spAutoFit/>
          </a:bodyPr>
          <a:lstStyle>
            <a:lvl1pPr>
              <a:defRPr sz="3400">
                <a:latin typeface="Arial" panose="020B0604020202020204"/>
                <a:ea typeface="Arial" panose="020B0604020202020204"/>
                <a:cs typeface="Arial" panose="020B0604020202020204"/>
                <a:sym typeface="Arial" panose="020B0604020202020204"/>
              </a:defRPr>
            </a:lvl1pPr>
          </a:lstStyle>
          <a:p>
            <a:pPr algn="ctr"/>
            <a:r>
              <a:rPr lang="en-US" altLang="zh-CN" sz="940" dirty="0">
                <a:latin typeface="Times New Roman" panose="02020603050405020304" pitchFamily="18" charset="0"/>
                <a:cs typeface="Times New Roman" panose="02020603050405020304" pitchFamily="18" charset="0"/>
              </a:rPr>
              <a:t>Deep Receiver Based on Multi-Head Self-Attention Mechanism</a:t>
            </a:r>
            <a:endParaRPr lang="en-US" altLang="zh-CN" sz="940" dirty="0">
              <a:latin typeface="Times New Roman" panose="02020603050405020304" pitchFamily="18" charset="0"/>
              <a:cs typeface="Times New Roman" panose="02020603050405020304" pitchFamily="18" charset="0"/>
            </a:endParaRPr>
          </a:p>
        </p:txBody>
      </p:sp>
      <p:sp>
        <p:nvSpPr>
          <p:cNvPr id="20" name="TextBox 38"/>
          <p:cNvSpPr txBox="1"/>
          <p:nvPr/>
        </p:nvSpPr>
        <p:spPr>
          <a:xfrm>
            <a:off x="4626293" y="2740475"/>
            <a:ext cx="1197293" cy="235585"/>
          </a:xfrm>
          <a:prstGeom prst="rect">
            <a:avLst/>
          </a:prstGeom>
          <a:ln w="12700">
            <a:miter lim="400000"/>
          </a:ln>
          <a:effectLst>
            <a:outerShdw blurRad="50800" dist="38100" dir="2700000" algn="tl" rotWithShape="0">
              <a:prstClr val="black">
                <a:alpha val="40000"/>
              </a:prstClr>
            </a:outerShdw>
          </a:effectLst>
        </p:spPr>
        <p:txBody>
          <a:bodyPr wrap="square" lIns="10715" rIns="10715">
            <a:spAutoFit/>
          </a:bodyPr>
          <a:lstStyle>
            <a:lvl1pPr>
              <a:defRPr sz="3400">
                <a:latin typeface="Arial" panose="020B0604020202020204"/>
                <a:ea typeface="Arial" panose="020B0604020202020204"/>
                <a:cs typeface="Arial" panose="020B0604020202020204"/>
                <a:sym typeface="Arial" panose="020B0604020202020204"/>
              </a:defRPr>
            </a:lvl1pPr>
          </a:lstStyle>
          <a:p>
            <a:pPr algn="ctr"/>
            <a:r>
              <a:rPr lang="en-US" sz="940" dirty="0">
                <a:latin typeface="Times New Roman" panose="02020603050405020304" pitchFamily="18" charset="0"/>
                <a:cs typeface="Times New Roman" panose="02020603050405020304" pitchFamily="18" charset="0"/>
              </a:rPr>
              <a:t>Experiments Results</a:t>
            </a:r>
            <a:endParaRPr sz="940" dirty="0">
              <a:latin typeface="Times New Roman" panose="02020603050405020304" pitchFamily="18" charset="0"/>
              <a:cs typeface="Times New Roman" panose="02020603050405020304" pitchFamily="18" charset="0"/>
            </a:endParaRPr>
          </a:p>
        </p:txBody>
      </p:sp>
      <p:sp>
        <p:nvSpPr>
          <p:cNvPr id="25" name="TextBox 38"/>
          <p:cNvSpPr txBox="1"/>
          <p:nvPr/>
        </p:nvSpPr>
        <p:spPr>
          <a:xfrm>
            <a:off x="1535748" y="2710947"/>
            <a:ext cx="1719739" cy="235585"/>
          </a:xfrm>
          <a:prstGeom prst="rect">
            <a:avLst/>
          </a:prstGeom>
          <a:ln w="12700">
            <a:miter lim="400000"/>
          </a:ln>
          <a:effectLst>
            <a:outerShdw blurRad="50800" dist="38100" dir="2700000" algn="tl" rotWithShape="0">
              <a:prstClr val="black">
                <a:alpha val="40000"/>
              </a:prstClr>
            </a:outerShdw>
          </a:effectLst>
        </p:spPr>
        <p:txBody>
          <a:bodyPr wrap="square" lIns="10715" rIns="10715">
            <a:spAutoFit/>
          </a:bodyPr>
          <a:lstStyle>
            <a:lvl1pPr>
              <a:defRPr sz="3400">
                <a:latin typeface="Arial" panose="020B0604020202020204"/>
                <a:ea typeface="Arial" panose="020B0604020202020204"/>
                <a:cs typeface="Arial" panose="020B0604020202020204"/>
                <a:sym typeface="Arial" panose="020B0604020202020204"/>
              </a:defRPr>
            </a:lvl1pPr>
          </a:lstStyle>
          <a:p>
            <a:pPr algn="ctr"/>
            <a:r>
              <a:rPr lang="en-US" sz="940" dirty="0">
                <a:latin typeface="Times New Roman" panose="02020603050405020304" pitchFamily="18" charset="0"/>
                <a:cs typeface="Times New Roman" panose="02020603050405020304" pitchFamily="18" charset="0"/>
              </a:rPr>
              <a:t>System Model</a:t>
            </a:r>
            <a:endParaRPr sz="940" dirty="0">
              <a:latin typeface="Times New Roman" panose="02020603050405020304" pitchFamily="18" charset="0"/>
              <a:cs typeface="Times New Roman" panose="02020603050405020304" pitchFamily="18" charset="0"/>
            </a:endParaRPr>
          </a:p>
        </p:txBody>
      </p:sp>
      <p:pic>
        <p:nvPicPr>
          <p:cNvPr id="2115" name="Picture 22" descr="Idea - Free technology icon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87568" y="2726387"/>
            <a:ext cx="201978" cy="201978"/>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a:xfrm>
            <a:off x="183684" y="250948"/>
            <a:ext cx="1234232" cy="353765"/>
          </a:xfrm>
          <a:prstGeom prst="rect">
            <a:avLst/>
          </a:prstGeom>
        </p:spPr>
      </p:pic>
      <p:pic>
        <p:nvPicPr>
          <p:cNvPr id="11" name="图片 10" descr="ICASSP-banner-1500x460px"/>
          <p:cNvPicPr>
            <a:picLocks noChangeAspect="1"/>
          </p:cNvPicPr>
          <p:nvPr/>
        </p:nvPicPr>
        <p:blipFill>
          <a:blip r:embed="rId3"/>
          <a:stretch>
            <a:fillRect/>
          </a:stretch>
        </p:blipFill>
        <p:spPr>
          <a:xfrm>
            <a:off x="8329295" y="69850"/>
            <a:ext cx="741680" cy="534670"/>
          </a:xfrm>
          <a:prstGeom prst="rect">
            <a:avLst/>
          </a:prstGeom>
        </p:spPr>
      </p:pic>
      <p:pic>
        <p:nvPicPr>
          <p:cNvPr id="24" name="图片 23" descr="fig5"/>
          <p:cNvPicPr>
            <a:picLocks noChangeAspect="1"/>
          </p:cNvPicPr>
          <p:nvPr/>
        </p:nvPicPr>
        <p:blipFill>
          <a:blip r:embed="rId4"/>
          <a:stretch>
            <a:fillRect/>
          </a:stretch>
        </p:blipFill>
        <p:spPr>
          <a:xfrm>
            <a:off x="5600065" y="3723640"/>
            <a:ext cx="1513840" cy="1135380"/>
          </a:xfrm>
          <a:prstGeom prst="rect">
            <a:avLst/>
          </a:prstGeom>
        </p:spPr>
      </p:pic>
      <p:pic>
        <p:nvPicPr>
          <p:cNvPr id="26" name="图片 25" descr="fig6"/>
          <p:cNvPicPr>
            <a:picLocks noChangeAspect="1"/>
          </p:cNvPicPr>
          <p:nvPr/>
        </p:nvPicPr>
        <p:blipFill>
          <a:blip r:embed="rId5"/>
          <a:stretch>
            <a:fillRect/>
          </a:stretch>
        </p:blipFill>
        <p:spPr>
          <a:xfrm>
            <a:off x="7336155" y="3729355"/>
            <a:ext cx="1513205" cy="1136015"/>
          </a:xfrm>
          <a:prstGeom prst="rect">
            <a:avLst/>
          </a:prstGeom>
        </p:spPr>
      </p:pic>
      <p:pic>
        <p:nvPicPr>
          <p:cNvPr id="27" name="图片 26" descr="fig2"/>
          <p:cNvPicPr>
            <a:picLocks noChangeAspect="1"/>
          </p:cNvPicPr>
          <p:nvPr/>
        </p:nvPicPr>
        <p:blipFill>
          <a:blip r:embed="rId6"/>
          <a:stretch>
            <a:fillRect/>
          </a:stretch>
        </p:blipFill>
        <p:spPr>
          <a:xfrm>
            <a:off x="2880360" y="1564905"/>
            <a:ext cx="3629660" cy="1153160"/>
          </a:xfrm>
          <a:prstGeom prst="rect">
            <a:avLst/>
          </a:prstGeom>
        </p:spPr>
      </p:pic>
      <p:sp>
        <p:nvSpPr>
          <p:cNvPr id="28" name="TextBox 2192"/>
          <p:cNvSpPr txBox="1"/>
          <p:nvPr/>
        </p:nvSpPr>
        <p:spPr>
          <a:xfrm>
            <a:off x="58579" y="826426"/>
            <a:ext cx="2499836" cy="19380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p>
            <a:pPr marL="171450" indent="-171450" algn="l">
              <a:buFont typeface="Wingdings" panose="05000000000000000000" charset="0"/>
              <a:buChar char="l"/>
            </a:pPr>
            <a:r>
              <a:rPr lang="en-US" altLang="zh-CN" sz="750" b="1" dirty="0">
                <a:latin typeface="Times New Roman" panose="02020603050405020304" pitchFamily="18" charset="0"/>
                <a:cs typeface="Times New Roman" panose="02020603050405020304" pitchFamily="18" charset="0"/>
              </a:rPr>
              <a:t>High Spectrum Efficiency</a:t>
            </a:r>
            <a:r>
              <a:rPr lang="en-US" altLang="zh-CN" sz="750" dirty="0">
                <a:latin typeface="Times New Roman" panose="02020603050405020304" pitchFamily="18" charset="0"/>
                <a:cs typeface="Times New Roman" panose="02020603050405020304" pitchFamily="18" charset="0"/>
              </a:rPr>
              <a:t>:  By superimposing pilots onto data symbols, NOSIP reduces pilot overhead and improves spectral utilization.</a:t>
            </a:r>
            <a:endParaRPr lang="en-US" altLang="zh-CN" sz="750" dirty="0">
              <a:latin typeface="Times New Roman" panose="02020603050405020304" pitchFamily="18" charset="0"/>
              <a:cs typeface="Times New Roman" panose="02020603050405020304" pitchFamily="18" charset="0"/>
            </a:endParaRPr>
          </a:p>
          <a:p>
            <a:pPr marL="171450" indent="-171450" algn="l">
              <a:buFont typeface="Wingdings" panose="05000000000000000000" charset="0"/>
              <a:buChar char="l"/>
            </a:pPr>
            <a:r>
              <a:rPr lang="en-US" altLang="zh-CN" sz="750" b="1" dirty="0">
                <a:latin typeface="Times New Roman" panose="02020603050405020304" pitchFamily="18" charset="0"/>
                <a:cs typeface="Times New Roman" panose="02020603050405020304" pitchFamily="18" charset="0"/>
              </a:rPr>
              <a:t>Challenges in Multi-Layer Data Transmission</a:t>
            </a:r>
            <a:r>
              <a:rPr lang="en-US" altLang="zh-CN" sz="750" dirty="0">
                <a:latin typeface="Times New Roman" panose="02020603050405020304" pitchFamily="18" charset="0"/>
                <a:cs typeface="Times New Roman" panose="02020603050405020304" pitchFamily="18" charset="0"/>
              </a:rPr>
              <a:t>: Multi-layer data transmission systems improve throughput by transmitting multiple data streams simultaneously. However, superimposed pilots further complicate the detection process.</a:t>
            </a:r>
            <a:endParaRPr lang="en-US" altLang="zh-CN" sz="750" dirty="0">
              <a:latin typeface="Times New Roman" panose="02020603050405020304" pitchFamily="18" charset="0"/>
              <a:cs typeface="Times New Roman" panose="02020603050405020304" pitchFamily="18" charset="0"/>
            </a:endParaRPr>
          </a:p>
          <a:p>
            <a:pPr marL="171450" indent="-171450" algn="l">
              <a:buFont typeface="Wingdings" panose="05000000000000000000" charset="0"/>
              <a:buChar char="l"/>
            </a:pPr>
            <a:r>
              <a:rPr lang="en-US" altLang="zh-CN" sz="750" b="1" dirty="0">
                <a:latin typeface="Times New Roman" panose="02020603050405020304" pitchFamily="18" charset="0"/>
                <a:cs typeface="Times New Roman" panose="02020603050405020304" pitchFamily="18" charset="0"/>
                <a:sym typeface="+mn-ea"/>
              </a:rPr>
              <a:t>End-to-End Learning Capability</a:t>
            </a:r>
            <a:r>
              <a:rPr lang="en-US" altLang="zh-CN" sz="750" dirty="0">
                <a:latin typeface="Times New Roman" panose="02020603050405020304" pitchFamily="18" charset="0"/>
                <a:cs typeface="Times New Roman" panose="02020603050405020304" pitchFamily="18" charset="0"/>
                <a:sym typeface="+mn-ea"/>
              </a:rPr>
              <a:t>: </a:t>
            </a:r>
            <a:r>
              <a:rPr lang="en-US" altLang="zh-CN" sz="750" dirty="0">
                <a:latin typeface="Times New Roman" panose="02020603050405020304" pitchFamily="18" charset="0"/>
                <a:cs typeface="Times New Roman" panose="02020603050405020304" pitchFamily="18" charset="0"/>
              </a:rPr>
              <a:t>Deep receivers leverage data-driven learning to extract complex channel characteristics and mitigate interference from superimposed pilots. </a:t>
            </a:r>
            <a:endParaRPr lang="en-US" altLang="zh-CN" sz="750" dirty="0">
              <a:latin typeface="Times New Roman" panose="02020603050405020304" pitchFamily="18" charset="0"/>
              <a:cs typeface="Times New Roman" panose="02020603050405020304" pitchFamily="18" charset="0"/>
            </a:endParaRPr>
          </a:p>
          <a:p>
            <a:pPr marL="171450" indent="-171450" algn="l">
              <a:buFont typeface="Wingdings" panose="05000000000000000000" charset="0"/>
              <a:buChar char="l"/>
            </a:pPr>
            <a:r>
              <a:rPr lang="en-US" altLang="zh-CN" sz="750" b="1" dirty="0">
                <a:latin typeface="Times New Roman" panose="02020603050405020304" pitchFamily="18" charset="0"/>
                <a:cs typeface="Times New Roman" panose="02020603050405020304" pitchFamily="18" charset="0"/>
              </a:rPr>
              <a:t>Enhancing Robustness with Data Augmentation</a:t>
            </a:r>
            <a:r>
              <a:rPr lang="en-US" altLang="zh-CN" sz="750" dirty="0">
                <a:latin typeface="Times New Roman" panose="02020603050405020304" pitchFamily="18" charset="0"/>
                <a:cs typeface="Times New Roman" panose="02020603050405020304" pitchFamily="18" charset="0"/>
              </a:rPr>
              <a:t>: Data augmentation techniques can improve the robustness of both conventional and deep receivers, making them more resilient to real-world uncertainties.</a:t>
            </a:r>
            <a:endParaRPr lang="en-US" altLang="zh-CN" sz="750" dirty="0">
              <a:latin typeface="Times New Roman" panose="02020603050405020304" pitchFamily="18" charset="0"/>
              <a:cs typeface="Times New Roman" panose="02020603050405020304" pitchFamily="18" charset="0"/>
            </a:endParaRPr>
          </a:p>
        </p:txBody>
      </p:sp>
      <p:sp>
        <p:nvSpPr>
          <p:cNvPr id="29" name="Snip Diagonal Corner Rectangle 21"/>
          <p:cNvSpPr/>
          <p:nvPr/>
        </p:nvSpPr>
        <p:spPr>
          <a:xfrm>
            <a:off x="6806565" y="666804"/>
            <a:ext cx="2177415" cy="2046446"/>
          </a:xfrm>
          <a:prstGeom prst="snip2DiagRect">
            <a:avLst>
              <a:gd name="adj1" fmla="val 0"/>
              <a:gd name="adj2" fmla="val 3283"/>
            </a:avLst>
          </a:prstGeom>
          <a:solidFill>
            <a:srgbClr val="FFFFFF"/>
          </a:solidFill>
          <a:ln w="12700" cap="flat">
            <a:solidFill>
              <a:schemeClr val="bg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4289" tIns="34289" rIns="34289" bIns="34289" numCol="1" spcCol="38100" rtlCol="0" anchor="ctr">
            <a:noAutofit/>
          </a:bodyPr>
          <a:p>
            <a:pPr marL="0" marR="0" indent="0" algn="l" defTabSz="326390" rtl="0" fontAlgn="auto" latinLnBrk="0" hangingPunct="0">
              <a:lnSpc>
                <a:spcPct val="100000"/>
              </a:lnSpc>
              <a:spcBef>
                <a:spcPts val="0"/>
              </a:spcBef>
              <a:spcAft>
                <a:spcPts val="0"/>
              </a:spcAft>
              <a:buClrTx/>
              <a:buSzTx/>
              <a:buFontTx/>
              <a:buNone/>
            </a:pPr>
            <a:endParaRPr kumimoji="0" lang="en-US" sz="900" b="0" i="0" u="none" strike="noStrike" cap="none" spc="0" normalizeH="0" baseline="0">
              <a:ln>
                <a:noFill/>
              </a:ln>
              <a:solidFill>
                <a:srgbClr val="000000"/>
              </a:solidFill>
              <a:effectLst/>
              <a:uFillTx/>
              <a:latin typeface="Times New Roman" panose="02020603050405020304" pitchFamily="18" charset="0"/>
              <a:ea typeface="+mn-ea"/>
              <a:cs typeface="Times New Roman" panose="02020603050405020304" pitchFamily="18" charset="0"/>
              <a:sym typeface="Calibri" panose="020F0502020204030204"/>
            </a:endParaRPr>
          </a:p>
        </p:txBody>
      </p:sp>
      <p:sp>
        <p:nvSpPr>
          <p:cNvPr id="34" name="TextBox 38"/>
          <p:cNvSpPr txBox="1"/>
          <p:nvPr/>
        </p:nvSpPr>
        <p:spPr>
          <a:xfrm>
            <a:off x="6816090" y="638307"/>
            <a:ext cx="2141696" cy="235585"/>
          </a:xfrm>
          <a:prstGeom prst="rect">
            <a:avLst/>
          </a:prstGeom>
          <a:ln w="12700">
            <a:miter lim="400000"/>
          </a:ln>
          <a:effectLst>
            <a:outerShdw blurRad="50800" dist="38100" dir="2700000" algn="tl" rotWithShape="0">
              <a:prstClr val="black">
                <a:alpha val="40000"/>
              </a:prstClr>
            </a:outerShdw>
          </a:effectLst>
        </p:spPr>
        <p:txBody>
          <a:bodyPr wrap="square" lIns="10715" rIns="10715">
            <a:spAutoFit/>
          </a:bodyPr>
          <a:lstStyle>
            <a:lvl1pPr>
              <a:defRPr sz="3400">
                <a:latin typeface="Arial" panose="020B0604020202020204"/>
                <a:ea typeface="Arial" panose="020B0604020202020204"/>
                <a:cs typeface="Arial" panose="020B0604020202020204"/>
                <a:sym typeface="Arial" panose="020B0604020202020204"/>
              </a:defRPr>
            </a:lvl1pPr>
          </a:lstStyle>
          <a:p>
            <a:pPr algn="ctr"/>
            <a:r>
              <a:rPr lang="en-US" altLang="zh-CN" sz="940" dirty="0">
                <a:latin typeface="Times New Roman" panose="02020603050405020304" pitchFamily="18" charset="0"/>
                <a:cs typeface="Times New Roman" panose="02020603050405020304" pitchFamily="18" charset="0"/>
              </a:rPr>
              <a:t>Data Augmentation Strategy</a:t>
            </a:r>
            <a:endParaRPr lang="en-US" altLang="zh-CN" sz="940" dirty="0">
              <a:latin typeface="Times New Roman" panose="02020603050405020304" pitchFamily="18" charset="0"/>
              <a:cs typeface="Times New Roman" panose="02020603050405020304" pitchFamily="18" charset="0"/>
            </a:endParaRPr>
          </a:p>
        </p:txBody>
      </p:sp>
      <p:pic>
        <p:nvPicPr>
          <p:cNvPr id="35" name="图片 34"/>
          <p:cNvPicPr>
            <a:picLocks noChangeAspect="1"/>
          </p:cNvPicPr>
          <p:nvPr/>
        </p:nvPicPr>
        <p:blipFill>
          <a:blip r:embed="rId7"/>
          <a:stretch>
            <a:fillRect/>
          </a:stretch>
        </p:blipFill>
        <p:spPr>
          <a:xfrm>
            <a:off x="6516370" y="2750185"/>
            <a:ext cx="2406650" cy="913130"/>
          </a:xfrm>
          <a:prstGeom prst="rect">
            <a:avLst/>
          </a:prstGeom>
        </p:spPr>
      </p:pic>
      <p:sp>
        <p:nvSpPr>
          <p:cNvPr id="36" name="文本框 35"/>
          <p:cNvSpPr txBox="1"/>
          <p:nvPr/>
        </p:nvSpPr>
        <p:spPr>
          <a:xfrm>
            <a:off x="4498340" y="2971165"/>
            <a:ext cx="2193925" cy="899160"/>
          </a:xfrm>
          <a:prstGeom prst="rect">
            <a:avLst/>
          </a:prstGeom>
          <a:noFill/>
        </p:spPr>
        <p:txBody>
          <a:bodyPr wrap="square" rtlCol="0" anchor="t">
            <a:spAutoFit/>
          </a:bodyPr>
          <a:p>
            <a:pPr marR="0" indent="0" algn="l" defTabSz="326390" rtl="0" fontAlgn="auto" latinLnBrk="0" hangingPunct="0">
              <a:lnSpc>
                <a:spcPct val="100000"/>
              </a:lnSpc>
              <a:spcBef>
                <a:spcPts val="0"/>
              </a:spcBef>
              <a:spcAft>
                <a:spcPts val="0"/>
              </a:spcAft>
              <a:buClrTx/>
              <a:buSzTx/>
              <a:buFont typeface="Arial" panose="020B0604020202020204" pitchFamily="34" charset="0"/>
              <a:buNone/>
            </a:pPr>
            <a:r>
              <a:rPr lang="en-US" altLang="zh-CN" sz="750">
                <a:ln>
                  <a:noFill/>
                </a:ln>
                <a:solidFill>
                  <a:srgbClr val="000000"/>
                </a:solidFill>
                <a:effectLst/>
                <a:uFillTx/>
                <a:latin typeface="Times New Roman" panose="02020603050405020304" pitchFamily="18" charset="0"/>
                <a:cs typeface="Times New Roman" panose="02020603050405020304" pitchFamily="18" charset="0"/>
                <a:sym typeface="Calibri" panose="020F0502020204030204"/>
              </a:rPr>
              <a:t>The goodput upper limit of the SIP scheme is approximately 35.91% higher compared to the</a:t>
            </a:r>
            <a:endParaRPr lang="en-US" altLang="zh-CN" sz="750">
              <a:ln>
                <a:noFill/>
              </a:ln>
              <a:solidFill>
                <a:srgbClr val="000000"/>
              </a:solidFill>
              <a:effectLst/>
              <a:uFillTx/>
              <a:latin typeface="Times New Roman" panose="02020603050405020304" pitchFamily="18" charset="0"/>
              <a:cs typeface="Times New Roman" panose="02020603050405020304" pitchFamily="18" charset="0"/>
              <a:sym typeface="Calibri" panose="020F0502020204030204"/>
            </a:endParaRPr>
          </a:p>
          <a:p>
            <a:pPr marR="0" indent="0" algn="l" defTabSz="326390" rtl="0" fontAlgn="auto" latinLnBrk="0" hangingPunct="0">
              <a:lnSpc>
                <a:spcPct val="100000"/>
              </a:lnSpc>
              <a:spcBef>
                <a:spcPts val="0"/>
              </a:spcBef>
              <a:spcAft>
                <a:spcPts val="0"/>
              </a:spcAft>
              <a:buClrTx/>
              <a:buSzTx/>
              <a:buFont typeface="Arial" panose="020B0604020202020204" pitchFamily="34" charset="0"/>
              <a:buNone/>
            </a:pPr>
            <a:r>
              <a:rPr lang="en-US" altLang="zh-CN" sz="750">
                <a:ln>
                  <a:noFill/>
                </a:ln>
                <a:solidFill>
                  <a:srgbClr val="000000"/>
                </a:solidFill>
                <a:effectLst/>
                <a:uFillTx/>
                <a:latin typeface="Times New Roman" panose="02020603050405020304" pitchFamily="18" charset="0"/>
                <a:cs typeface="Times New Roman" panose="02020603050405020304" pitchFamily="18" charset="0"/>
                <a:sym typeface="Calibri" panose="020F0502020204030204"/>
              </a:rPr>
              <a:t>orthogonal pilot scheme. Compared to the “LS + LMMSE” scheme, the proposed SANet scheme based on orthogonal pilots and SIPs has a goodput improvement of approximately 7.01% and 37.15%, respectively.</a:t>
            </a:r>
            <a:endParaRPr lang="en-US" altLang="zh-CN" sz="750">
              <a:ln>
                <a:noFill/>
              </a:ln>
              <a:solidFill>
                <a:srgbClr val="000000"/>
              </a:solidFill>
              <a:effectLst/>
              <a:uFillTx/>
              <a:latin typeface="Times New Roman" panose="02020603050405020304" pitchFamily="18" charset="0"/>
              <a:cs typeface="Times New Roman" panose="02020603050405020304" pitchFamily="18" charset="0"/>
              <a:sym typeface="Calibri" panose="020F0502020204030204"/>
            </a:endParaRPr>
          </a:p>
        </p:txBody>
      </p:sp>
      <p:sp>
        <p:nvSpPr>
          <p:cNvPr id="37" name="文本框 36"/>
          <p:cNvSpPr txBox="1"/>
          <p:nvPr/>
        </p:nvSpPr>
        <p:spPr>
          <a:xfrm>
            <a:off x="4517073" y="3858234"/>
            <a:ext cx="1136809" cy="668020"/>
          </a:xfrm>
          <a:prstGeom prst="rect">
            <a:avLst/>
          </a:prstGeom>
        </p:spPr>
        <p:txBody>
          <a:bodyPr wrap="square">
            <a:spAutoFit/>
          </a:bodyPr>
          <a:p>
            <a:pPr indent="0" algn="l">
              <a:buFont typeface="Arial" panose="020B0604020202020204" pitchFamily="34" charset="0"/>
              <a:buNone/>
            </a:pPr>
            <a:r>
              <a:rPr lang="en-US" altLang="zh-CN" sz="750">
                <a:solidFill>
                  <a:srgbClr val="000000"/>
                </a:solidFill>
                <a:latin typeface="Times New Roman" panose="02020603050405020304" pitchFamily="18" charset="0"/>
                <a:ea typeface="NimbusRomNo9L-Regu"/>
                <a:cs typeface="Times New Roman" panose="02020603050405020304" pitchFamily="18" charset="0"/>
              </a:rPr>
              <a:t>we developed a data augmentation strategy to further enhance the robustness capability of the receiver.</a:t>
            </a:r>
            <a:endParaRPr lang="en-US" altLang="zh-CN" sz="750">
              <a:solidFill>
                <a:srgbClr val="000000"/>
              </a:solidFill>
              <a:latin typeface="Times New Roman" panose="02020603050405020304" pitchFamily="18" charset="0"/>
              <a:ea typeface="NimbusRomNo9L-Regu"/>
              <a:cs typeface="Times New Roman" panose="02020603050405020304" pitchFamily="18" charset="0"/>
            </a:endParaRPr>
          </a:p>
        </p:txBody>
      </p:sp>
      <p:pic>
        <p:nvPicPr>
          <p:cNvPr id="39" name="Picture 46" descr="green-tick-png-green-tick-png-file-570 - Blackstone Career Institut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0395" y="3021860"/>
            <a:ext cx="91916" cy="8763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6" descr="green-tick-png-green-tick-png-file-570 - Blackstone Career Institut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5634" y="3939594"/>
            <a:ext cx="86678" cy="8763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2" descr="Idea - Free technology icon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9520" y="624696"/>
            <a:ext cx="201978" cy="201978"/>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2" descr="Idea - Free technology icon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17433" y="2731149"/>
            <a:ext cx="201978" cy="201978"/>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2" descr="Idea - Free technology icon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51681" y="624696"/>
            <a:ext cx="201978" cy="201978"/>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2" descr="Idea - Free technology icon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971708" y="624696"/>
            <a:ext cx="201978" cy="201978"/>
          </a:xfrm>
          <a:prstGeom prst="rect">
            <a:avLst/>
          </a:prstGeom>
          <a:noFill/>
          <a:extLst>
            <a:ext uri="{909E8E84-426E-40DD-AFC4-6F175D3DCCD1}">
              <a14:hiddenFill xmlns:a14="http://schemas.microsoft.com/office/drawing/2010/main">
                <a:solidFill>
                  <a:srgbClr val="FFFFFF"/>
                </a:solidFill>
              </a14:hiddenFill>
            </a:ext>
          </a:extLst>
        </p:spPr>
      </p:pic>
      <p:pic>
        <p:nvPicPr>
          <p:cNvPr id="46" name="图片 45"/>
          <p:cNvPicPr>
            <a:picLocks noChangeAspect="1"/>
          </p:cNvPicPr>
          <p:nvPr/>
        </p:nvPicPr>
        <p:blipFill>
          <a:blip r:embed="rId9"/>
          <a:stretch>
            <a:fillRect/>
          </a:stretch>
        </p:blipFill>
        <p:spPr>
          <a:xfrm>
            <a:off x="167958" y="2928039"/>
            <a:ext cx="4127183" cy="1099661"/>
          </a:xfrm>
          <a:prstGeom prst="rect">
            <a:avLst/>
          </a:prstGeom>
        </p:spPr>
      </p:pic>
      <p:sp>
        <p:nvSpPr>
          <p:cNvPr id="47" name="文本框 46"/>
          <p:cNvSpPr txBox="1"/>
          <p:nvPr/>
        </p:nvSpPr>
        <p:spPr>
          <a:xfrm>
            <a:off x="6762274" y="826426"/>
            <a:ext cx="2194084" cy="321945"/>
          </a:xfrm>
          <a:prstGeom prst="rect">
            <a:avLst/>
          </a:prstGeom>
          <a:noFill/>
        </p:spPr>
        <p:txBody>
          <a:bodyPr wrap="square" rtlCol="0" anchor="t">
            <a:spAutoFit/>
          </a:bodyPr>
          <a:p>
            <a:pPr marR="0" indent="0" algn="l" defTabSz="326390" rtl="0" fontAlgn="auto" latinLnBrk="0" hangingPunct="0">
              <a:lnSpc>
                <a:spcPct val="100000"/>
              </a:lnSpc>
              <a:spcBef>
                <a:spcPts val="0"/>
              </a:spcBef>
              <a:spcAft>
                <a:spcPts val="0"/>
              </a:spcAft>
              <a:buClrTx/>
              <a:buSzTx/>
              <a:buFont typeface="Wingdings" panose="05000000000000000000" charset="0"/>
              <a:buNone/>
            </a:pPr>
            <a:r>
              <a:rPr lang="en-US" altLang="zh-CN" sz="750">
                <a:ln>
                  <a:noFill/>
                </a:ln>
                <a:solidFill>
                  <a:srgbClr val="000000"/>
                </a:solidFill>
                <a:effectLst/>
                <a:uFillTx/>
                <a:latin typeface="Times New Roman" panose="02020603050405020304" pitchFamily="18" charset="0"/>
                <a:cs typeface="Times New Roman" panose="02020603050405020304" pitchFamily="18" charset="0"/>
                <a:sym typeface="Calibri" panose="020F0502020204030204"/>
              </a:rPr>
              <a:t>This strategy can be dynamically adjusted to meet the specific requirements of various scenarios.</a:t>
            </a:r>
            <a:endParaRPr lang="en-US" altLang="zh-CN" sz="750">
              <a:ln>
                <a:noFill/>
              </a:ln>
              <a:solidFill>
                <a:srgbClr val="000000"/>
              </a:solidFill>
              <a:effectLst/>
              <a:uFillTx/>
              <a:latin typeface="Times New Roman" panose="02020603050405020304" pitchFamily="18" charset="0"/>
              <a:cs typeface="Times New Roman" panose="02020603050405020304" pitchFamily="18" charset="0"/>
              <a:sym typeface="Calibri" panose="020F0502020204030204"/>
            </a:endParaRPr>
          </a:p>
        </p:txBody>
      </p:sp>
      <p:sp>
        <p:nvSpPr>
          <p:cNvPr id="49" name="文本框 48"/>
          <p:cNvSpPr txBox="1"/>
          <p:nvPr/>
        </p:nvSpPr>
        <p:spPr>
          <a:xfrm>
            <a:off x="2636996" y="829284"/>
            <a:ext cx="4026218" cy="783590"/>
          </a:xfrm>
          <a:prstGeom prst="rect">
            <a:avLst/>
          </a:prstGeom>
          <a:noFill/>
        </p:spPr>
        <p:txBody>
          <a:bodyPr wrap="square" rtlCol="0" anchor="t">
            <a:spAutoFit/>
          </a:bodyPr>
          <a:p>
            <a:pPr marL="171450" marR="0" indent="-171450" algn="l" defTabSz="326390" rtl="0" fontAlgn="auto" latinLnBrk="0" hangingPunct="0">
              <a:lnSpc>
                <a:spcPct val="100000"/>
              </a:lnSpc>
              <a:spcBef>
                <a:spcPts val="0"/>
              </a:spcBef>
              <a:spcAft>
                <a:spcPts val="0"/>
              </a:spcAft>
              <a:buClrTx/>
              <a:buSzTx/>
              <a:buFont typeface="Wingdings" panose="05000000000000000000" charset="0"/>
              <a:buChar char="p"/>
            </a:pPr>
            <a:r>
              <a:rPr lang="en-US" altLang="zh-CN" sz="750" b="1">
                <a:ln>
                  <a:noFill/>
                </a:ln>
                <a:solidFill>
                  <a:srgbClr val="000000"/>
                </a:solidFill>
                <a:effectLst/>
                <a:uFillTx/>
                <a:latin typeface="Times New Roman" panose="02020603050405020304" pitchFamily="18" charset="0"/>
                <a:cs typeface="Times New Roman" panose="02020603050405020304" pitchFamily="18" charset="0"/>
                <a:sym typeface="Calibri" panose="020F0502020204030204"/>
              </a:rPr>
              <a:t>Common Subspace</a:t>
            </a:r>
            <a:r>
              <a:rPr lang="en-US" altLang="zh-CN" sz="750">
                <a:ln>
                  <a:noFill/>
                </a:ln>
                <a:solidFill>
                  <a:srgbClr val="000000"/>
                </a:solidFill>
                <a:effectLst/>
                <a:uFillTx/>
                <a:latin typeface="Times New Roman" panose="02020603050405020304" pitchFamily="18" charset="0"/>
                <a:cs typeface="Times New Roman" panose="02020603050405020304" pitchFamily="18" charset="0"/>
                <a:sym typeface="Calibri" panose="020F0502020204030204"/>
              </a:rPr>
              <a:t>: Extracts shared features from intermediate results in the signal-to-LLR mapping process. By leveraging these shared features across tasks, it improves the receiver's  robustness.</a:t>
            </a:r>
            <a:endParaRPr lang="en-US" altLang="zh-CN" sz="750">
              <a:ln>
                <a:noFill/>
              </a:ln>
              <a:solidFill>
                <a:srgbClr val="000000"/>
              </a:solidFill>
              <a:effectLst/>
              <a:uFillTx/>
              <a:latin typeface="Times New Roman" panose="02020603050405020304" pitchFamily="18" charset="0"/>
              <a:cs typeface="Times New Roman" panose="02020603050405020304" pitchFamily="18" charset="0"/>
              <a:sym typeface="Calibri" panose="020F0502020204030204"/>
            </a:endParaRPr>
          </a:p>
          <a:p>
            <a:pPr marL="171450" marR="0" indent="-171450" algn="l" defTabSz="326390" rtl="0" fontAlgn="auto" latinLnBrk="0" hangingPunct="0">
              <a:lnSpc>
                <a:spcPct val="100000"/>
              </a:lnSpc>
              <a:spcBef>
                <a:spcPts val="0"/>
              </a:spcBef>
              <a:spcAft>
                <a:spcPts val="0"/>
              </a:spcAft>
              <a:buClrTx/>
              <a:buSzTx/>
              <a:buFont typeface="Wingdings" panose="05000000000000000000" charset="0"/>
              <a:buChar char="p"/>
            </a:pPr>
            <a:r>
              <a:rPr lang="en-US" altLang="zh-CN" sz="750" b="1">
                <a:ln>
                  <a:noFill/>
                </a:ln>
                <a:solidFill>
                  <a:srgbClr val="000000"/>
                </a:solidFill>
                <a:effectLst/>
                <a:uFillTx/>
                <a:latin typeface="Times New Roman" panose="02020603050405020304" pitchFamily="18" charset="0"/>
                <a:cs typeface="Times New Roman" panose="02020603050405020304" pitchFamily="18" charset="0"/>
                <a:sym typeface="Calibri" panose="020F0502020204030204"/>
              </a:rPr>
              <a:t>Multi-Head Self-Attention</a:t>
            </a:r>
            <a:r>
              <a:rPr lang="en-US" altLang="zh-CN" sz="750">
                <a:ln>
                  <a:noFill/>
                </a:ln>
                <a:solidFill>
                  <a:srgbClr val="000000"/>
                </a:solidFill>
                <a:effectLst/>
                <a:uFillTx/>
                <a:latin typeface="Times New Roman" panose="02020603050405020304" pitchFamily="18" charset="0"/>
                <a:cs typeface="Times New Roman" panose="02020603050405020304" pitchFamily="18" charset="0"/>
                <a:sym typeface="Calibri" panose="020F0502020204030204"/>
              </a:rPr>
              <a:t>: Allows parallel attention to different signal feature layers, enhancing the receiver’s ability to extract key information and improving demodulation accuracy and interference resistance.</a:t>
            </a:r>
            <a:endParaRPr lang="en-US" altLang="zh-CN" sz="750">
              <a:ln>
                <a:noFill/>
              </a:ln>
              <a:solidFill>
                <a:srgbClr val="000000"/>
              </a:solidFill>
              <a:effectLst/>
              <a:uFillTx/>
              <a:latin typeface="Times New Roman" panose="02020603050405020304" pitchFamily="18" charset="0"/>
              <a:cs typeface="Times New Roman" panose="02020603050405020304" pitchFamily="18" charset="0"/>
              <a:sym typeface="Calibri" panose="020F0502020204030204"/>
            </a:endParaRPr>
          </a:p>
        </p:txBody>
      </p:sp>
      <p:graphicFrame>
        <p:nvGraphicFramePr>
          <p:cNvPr id="51" name="对象 50"/>
          <p:cNvGraphicFramePr/>
          <p:nvPr/>
        </p:nvGraphicFramePr>
        <p:xfrm>
          <a:off x="2796064" y="4428544"/>
          <a:ext cx="1062990" cy="155575"/>
        </p:xfrm>
        <a:graphic>
          <a:graphicData uri="http://schemas.openxmlformats.org/presentationml/2006/ole">
            <mc:AlternateContent xmlns:mc="http://schemas.openxmlformats.org/markup-compatibility/2006">
              <mc:Choice xmlns:v="urn:schemas-microsoft-com:vml" Requires="v">
                <p:oleObj spid="_x0000_s52" name="" r:id="rId10" imgW="1435100" imgH="228600" progId="Equation.DSMT4">
                  <p:embed/>
                </p:oleObj>
              </mc:Choice>
              <mc:Fallback>
                <p:oleObj name="" r:id="rId10" imgW="1435100" imgH="228600" progId="Equation.DSMT4">
                  <p:embed/>
                  <p:pic>
                    <p:nvPicPr>
                      <p:cNvPr id="0" name="图片 51"/>
                      <p:cNvPicPr/>
                      <p:nvPr/>
                    </p:nvPicPr>
                    <p:blipFill>
                      <a:blip r:embed="rId11"/>
                      <a:stretch>
                        <a:fillRect/>
                      </a:stretch>
                    </p:blipFill>
                    <p:spPr>
                      <a:xfrm>
                        <a:off x="2796064" y="4428544"/>
                        <a:ext cx="1062990" cy="155575"/>
                      </a:xfrm>
                      <a:prstGeom prst="rect">
                        <a:avLst/>
                      </a:prstGeom>
                    </p:spPr>
                  </p:pic>
                </p:oleObj>
              </mc:Fallback>
            </mc:AlternateContent>
          </a:graphicData>
        </a:graphic>
      </p:graphicFrame>
      <p:graphicFrame>
        <p:nvGraphicFramePr>
          <p:cNvPr id="53" name="对象 52"/>
          <p:cNvGraphicFramePr/>
          <p:nvPr/>
        </p:nvGraphicFramePr>
        <p:xfrm>
          <a:off x="2795746" y="4607455"/>
          <a:ext cx="891540" cy="257810"/>
        </p:xfrm>
        <a:graphic>
          <a:graphicData uri="http://schemas.openxmlformats.org/presentationml/2006/ole">
            <mc:AlternateContent xmlns:mc="http://schemas.openxmlformats.org/markup-compatibility/2006">
              <mc:Choice xmlns:v="urn:schemas-microsoft-com:vml" Requires="v">
                <p:oleObj spid="_x0000_s54" name="" r:id="rId12" imgW="1206500" imgH="368300" progId="Equation.DSMT4">
                  <p:embed/>
                </p:oleObj>
              </mc:Choice>
              <mc:Fallback>
                <p:oleObj name="" r:id="rId12" imgW="1206500" imgH="368300" progId="Equation.DSMT4">
                  <p:embed/>
                  <p:pic>
                    <p:nvPicPr>
                      <p:cNvPr id="0" name="图片 53"/>
                      <p:cNvPicPr/>
                      <p:nvPr/>
                    </p:nvPicPr>
                    <p:blipFill>
                      <a:blip r:embed="rId13"/>
                      <a:stretch>
                        <a:fillRect/>
                      </a:stretch>
                    </p:blipFill>
                    <p:spPr>
                      <a:xfrm>
                        <a:off x="2795746" y="4607455"/>
                        <a:ext cx="891540" cy="257810"/>
                      </a:xfrm>
                      <a:prstGeom prst="rect">
                        <a:avLst/>
                      </a:prstGeom>
                    </p:spPr>
                  </p:pic>
                </p:oleObj>
              </mc:Fallback>
            </mc:AlternateContent>
          </a:graphicData>
        </a:graphic>
      </p:graphicFrame>
      <p:sp>
        <p:nvSpPr>
          <p:cNvPr id="55" name="文本框 54"/>
          <p:cNvSpPr txBox="1"/>
          <p:nvPr/>
        </p:nvSpPr>
        <p:spPr>
          <a:xfrm>
            <a:off x="131445" y="3990975"/>
            <a:ext cx="4179570" cy="437515"/>
          </a:xfrm>
          <a:prstGeom prst="rect">
            <a:avLst/>
          </a:prstGeom>
        </p:spPr>
        <p:txBody>
          <a:bodyPr wrap="square">
            <a:spAutoFit/>
          </a:bodyPr>
          <a:p>
            <a:r>
              <a:rPr lang="en-US" altLang="zh-CN" sz="750">
                <a:solidFill>
                  <a:srgbClr val="000000"/>
                </a:solidFill>
                <a:latin typeface="Times New Roman" panose="02020603050405020304" pitchFamily="18" charset="0"/>
                <a:ea typeface="NimbusRomNo9L-Regu"/>
                <a:cs typeface="Times New Roman" panose="02020603050405020304" pitchFamily="18" charset="0"/>
              </a:rPr>
              <a:t>We consider a MIMO-OFDM downlink system, where transmission resources are allocated across </a:t>
            </a:r>
            <a:r>
              <a:rPr lang="en-US" altLang="zh-CN" sz="750">
                <a:solidFill>
                  <a:srgbClr val="000000"/>
                </a:solidFill>
                <a:latin typeface="Times New Roman" panose="02020603050405020304" pitchFamily="18" charset="0"/>
                <a:ea typeface="NimbusRomNo9L-Regu"/>
                <a:cs typeface="Times New Roman" panose="02020603050405020304" pitchFamily="18" charset="0"/>
              </a:rPr>
              <a:t> subcarriers in the frequency domain and    symbols in the time domain, enabling parallel transmission of an   -layer bitstream.</a:t>
            </a:r>
            <a:endParaRPr lang="en-US" altLang="zh-CN" sz="750">
              <a:solidFill>
                <a:srgbClr val="000000"/>
              </a:solidFill>
              <a:latin typeface="Times New Roman" panose="02020603050405020304" pitchFamily="18" charset="0"/>
              <a:ea typeface="NimbusRomNo9L-Regu"/>
              <a:cs typeface="Times New Roman" panose="02020603050405020304" pitchFamily="18" charset="0"/>
            </a:endParaRPr>
          </a:p>
        </p:txBody>
      </p:sp>
      <p:graphicFrame>
        <p:nvGraphicFramePr>
          <p:cNvPr id="56" name="对象 55"/>
          <p:cNvGraphicFramePr/>
          <p:nvPr/>
        </p:nvGraphicFramePr>
        <p:xfrm>
          <a:off x="1758950" y="4151578"/>
          <a:ext cx="95250" cy="116205"/>
        </p:xfrm>
        <a:graphic>
          <a:graphicData uri="http://schemas.openxmlformats.org/presentationml/2006/ole">
            <mc:AlternateContent xmlns:mc="http://schemas.openxmlformats.org/markup-compatibility/2006">
              <mc:Choice xmlns:v="urn:schemas-microsoft-com:vml" Requires="v">
                <p:oleObj spid="_x0000_s57" name="" r:id="rId14" imgW="114300" imgH="127000" progId="Equation.DSMT4">
                  <p:embed/>
                </p:oleObj>
              </mc:Choice>
              <mc:Fallback>
                <p:oleObj name="" r:id="rId14" imgW="114300" imgH="127000" progId="Equation.DSMT4">
                  <p:embed/>
                  <p:pic>
                    <p:nvPicPr>
                      <p:cNvPr id="0" name="图片 56"/>
                      <p:cNvPicPr/>
                      <p:nvPr/>
                    </p:nvPicPr>
                    <p:blipFill>
                      <a:blip r:embed="rId15"/>
                      <a:stretch>
                        <a:fillRect/>
                      </a:stretch>
                    </p:blipFill>
                    <p:spPr>
                      <a:xfrm>
                        <a:off x="1758950" y="4151578"/>
                        <a:ext cx="95250" cy="116205"/>
                      </a:xfrm>
                      <a:prstGeom prst="rect">
                        <a:avLst/>
                      </a:prstGeom>
                    </p:spPr>
                  </p:pic>
                </p:oleObj>
              </mc:Fallback>
            </mc:AlternateContent>
          </a:graphicData>
        </a:graphic>
      </p:graphicFrame>
      <p:graphicFrame>
        <p:nvGraphicFramePr>
          <p:cNvPr id="58" name="对象 57"/>
          <p:cNvGraphicFramePr/>
          <p:nvPr/>
        </p:nvGraphicFramePr>
        <p:xfrm>
          <a:off x="3988435" y="4042993"/>
          <a:ext cx="95250" cy="127635"/>
        </p:xfrm>
        <a:graphic>
          <a:graphicData uri="http://schemas.openxmlformats.org/presentationml/2006/ole">
            <mc:AlternateContent xmlns:mc="http://schemas.openxmlformats.org/markup-compatibility/2006">
              <mc:Choice xmlns:v="urn:schemas-microsoft-com:vml" Requires="v">
                <p:oleObj spid="_x0000_s59" name="" r:id="rId16" imgW="114300" imgH="139700" progId="Equation.DSMT4">
                  <p:embed/>
                </p:oleObj>
              </mc:Choice>
              <mc:Fallback>
                <p:oleObj name="" r:id="rId16" imgW="114300" imgH="139700" progId="Equation.DSMT4">
                  <p:embed/>
                  <p:pic>
                    <p:nvPicPr>
                      <p:cNvPr id="0" name="图片 58"/>
                      <p:cNvPicPr/>
                      <p:nvPr/>
                    </p:nvPicPr>
                    <p:blipFill>
                      <a:blip r:embed="rId17"/>
                      <a:stretch>
                        <a:fillRect/>
                      </a:stretch>
                    </p:blipFill>
                    <p:spPr>
                      <a:xfrm>
                        <a:off x="3988435" y="4042993"/>
                        <a:ext cx="95250" cy="127635"/>
                      </a:xfrm>
                      <a:prstGeom prst="rect">
                        <a:avLst/>
                      </a:prstGeom>
                    </p:spPr>
                  </p:pic>
                </p:oleObj>
              </mc:Fallback>
            </mc:AlternateContent>
          </a:graphicData>
        </a:graphic>
      </p:graphicFrame>
      <p:graphicFrame>
        <p:nvGraphicFramePr>
          <p:cNvPr id="60" name="对象 59"/>
          <p:cNvGraphicFramePr/>
          <p:nvPr/>
        </p:nvGraphicFramePr>
        <p:xfrm>
          <a:off x="309245" y="4274133"/>
          <a:ext cx="95250" cy="116205"/>
        </p:xfrm>
        <a:graphic>
          <a:graphicData uri="http://schemas.openxmlformats.org/presentationml/2006/ole">
            <mc:AlternateContent xmlns:mc="http://schemas.openxmlformats.org/markup-compatibility/2006">
              <mc:Choice xmlns:v="urn:schemas-microsoft-com:vml" Requires="v">
                <p:oleObj spid="_x0000_s61" name="" r:id="rId18" imgW="114300" imgH="127000" progId="Equation.DSMT4">
                  <p:embed/>
                </p:oleObj>
              </mc:Choice>
              <mc:Fallback>
                <p:oleObj name="" r:id="rId18" imgW="114300" imgH="127000" progId="Equation.DSMT4">
                  <p:embed/>
                  <p:pic>
                    <p:nvPicPr>
                      <p:cNvPr id="0" name="图片 60"/>
                      <p:cNvPicPr/>
                      <p:nvPr/>
                    </p:nvPicPr>
                    <p:blipFill>
                      <a:blip r:embed="rId19"/>
                      <a:stretch>
                        <a:fillRect/>
                      </a:stretch>
                    </p:blipFill>
                    <p:spPr>
                      <a:xfrm>
                        <a:off x="309245" y="4274133"/>
                        <a:ext cx="95250" cy="116205"/>
                      </a:xfrm>
                      <a:prstGeom prst="rect">
                        <a:avLst/>
                      </a:prstGeom>
                    </p:spPr>
                  </p:pic>
                </p:oleObj>
              </mc:Fallback>
            </mc:AlternateContent>
          </a:graphicData>
        </a:graphic>
      </p:graphicFrame>
      <p:sp>
        <p:nvSpPr>
          <p:cNvPr id="62" name="文本框 61"/>
          <p:cNvSpPr txBox="1"/>
          <p:nvPr/>
        </p:nvSpPr>
        <p:spPr>
          <a:xfrm>
            <a:off x="131445" y="4345305"/>
            <a:ext cx="2451100" cy="321945"/>
          </a:xfrm>
          <a:prstGeom prst="rect">
            <a:avLst/>
          </a:prstGeom>
        </p:spPr>
        <p:txBody>
          <a:bodyPr wrap="square">
            <a:spAutoFit/>
          </a:bodyPr>
          <a:p>
            <a:r>
              <a:rPr lang="en-US" altLang="zh-CN" sz="750">
                <a:solidFill>
                  <a:srgbClr val="000000"/>
                </a:solidFill>
                <a:latin typeface="Times New Roman" panose="02020603050405020304" pitchFamily="18" charset="0"/>
                <a:ea typeface="NimbusRomNo9L-Regu"/>
                <a:cs typeface="Times New Roman" panose="02020603050405020304" pitchFamily="18" charset="0"/>
              </a:rPr>
              <a:t>The transmitter performs superposition of pilot     and data to obtain superimposed symbols</a:t>
            </a:r>
            <a:endParaRPr lang="en-US" altLang="zh-CN" sz="750">
              <a:solidFill>
                <a:srgbClr val="000000"/>
              </a:solidFill>
              <a:latin typeface="Times New Roman" panose="02020603050405020304" pitchFamily="18" charset="0"/>
              <a:ea typeface="NimbusRomNo9L-Regu"/>
              <a:cs typeface="Times New Roman" panose="02020603050405020304" pitchFamily="18" charset="0"/>
            </a:endParaRPr>
          </a:p>
        </p:txBody>
      </p:sp>
      <p:graphicFrame>
        <p:nvGraphicFramePr>
          <p:cNvPr id="63" name="对象 62"/>
          <p:cNvGraphicFramePr/>
          <p:nvPr/>
        </p:nvGraphicFramePr>
        <p:xfrm>
          <a:off x="1469073" y="4512893"/>
          <a:ext cx="83185" cy="127635"/>
        </p:xfrm>
        <a:graphic>
          <a:graphicData uri="http://schemas.openxmlformats.org/presentationml/2006/ole">
            <mc:AlternateContent xmlns:mc="http://schemas.openxmlformats.org/markup-compatibility/2006">
              <mc:Choice xmlns:v="urn:schemas-microsoft-com:vml" Requires="v">
                <p:oleObj spid="_x0000_s64" name="" r:id="rId20" imgW="101600" imgH="139700" progId="Equation.DSMT4">
                  <p:embed/>
                </p:oleObj>
              </mc:Choice>
              <mc:Fallback>
                <p:oleObj name="" r:id="rId20" imgW="101600" imgH="139700" progId="Equation.DSMT4">
                  <p:embed/>
                  <p:pic>
                    <p:nvPicPr>
                      <p:cNvPr id="0" name="图片 63"/>
                      <p:cNvPicPr/>
                      <p:nvPr/>
                    </p:nvPicPr>
                    <p:blipFill>
                      <a:blip r:embed="rId21"/>
                      <a:stretch>
                        <a:fillRect/>
                      </a:stretch>
                    </p:blipFill>
                    <p:spPr>
                      <a:xfrm>
                        <a:off x="1469073" y="4512893"/>
                        <a:ext cx="83185" cy="127635"/>
                      </a:xfrm>
                      <a:prstGeom prst="rect">
                        <a:avLst/>
                      </a:prstGeom>
                    </p:spPr>
                  </p:pic>
                </p:oleObj>
              </mc:Fallback>
            </mc:AlternateContent>
          </a:graphicData>
        </a:graphic>
      </p:graphicFrame>
      <p:graphicFrame>
        <p:nvGraphicFramePr>
          <p:cNvPr id="65" name="对象 64"/>
          <p:cNvGraphicFramePr/>
          <p:nvPr/>
        </p:nvGraphicFramePr>
        <p:xfrm>
          <a:off x="2032318" y="4396688"/>
          <a:ext cx="97155" cy="116205"/>
        </p:xfrm>
        <a:graphic>
          <a:graphicData uri="http://schemas.openxmlformats.org/presentationml/2006/ole">
            <mc:AlternateContent xmlns:mc="http://schemas.openxmlformats.org/markup-compatibility/2006">
              <mc:Choice xmlns:v="urn:schemas-microsoft-com:vml" Requires="v">
                <p:oleObj spid="_x0000_s66" name="" r:id="rId22" imgW="114300" imgH="127000" progId="Equation.DSMT4">
                  <p:embed/>
                </p:oleObj>
              </mc:Choice>
              <mc:Fallback>
                <p:oleObj name="" r:id="rId22" imgW="114300" imgH="127000" progId="Equation.DSMT4">
                  <p:embed/>
                  <p:pic>
                    <p:nvPicPr>
                      <p:cNvPr id="0" name="图片 65"/>
                      <p:cNvPicPr/>
                      <p:nvPr/>
                    </p:nvPicPr>
                    <p:blipFill>
                      <a:blip r:embed="rId23"/>
                      <a:stretch>
                        <a:fillRect/>
                      </a:stretch>
                    </p:blipFill>
                    <p:spPr>
                      <a:xfrm>
                        <a:off x="2032318" y="4396688"/>
                        <a:ext cx="97155" cy="116205"/>
                      </a:xfrm>
                      <a:prstGeom prst="rect">
                        <a:avLst/>
                      </a:prstGeom>
                    </p:spPr>
                  </p:pic>
                </p:oleObj>
              </mc:Fallback>
            </mc:AlternateContent>
          </a:graphicData>
        </a:graphic>
      </p:graphicFrame>
      <p:graphicFrame>
        <p:nvGraphicFramePr>
          <p:cNvPr id="67" name="对象 66"/>
          <p:cNvGraphicFramePr/>
          <p:nvPr/>
        </p:nvGraphicFramePr>
        <p:xfrm>
          <a:off x="2472373" y="4396688"/>
          <a:ext cx="109855" cy="116205"/>
        </p:xfrm>
        <a:graphic>
          <a:graphicData uri="http://schemas.openxmlformats.org/presentationml/2006/ole">
            <mc:AlternateContent xmlns:mc="http://schemas.openxmlformats.org/markup-compatibility/2006">
              <mc:Choice xmlns:v="urn:schemas-microsoft-com:vml" Requires="v">
                <p:oleObj spid="_x0000_s68" name="" r:id="rId24" imgW="127000" imgH="127000" progId="Equation.DSMT4">
                  <p:embed/>
                </p:oleObj>
              </mc:Choice>
              <mc:Fallback>
                <p:oleObj name="" r:id="rId24" imgW="127000" imgH="127000" progId="Equation.DSMT4">
                  <p:embed/>
                  <p:pic>
                    <p:nvPicPr>
                      <p:cNvPr id="0" name="图片 67"/>
                      <p:cNvPicPr/>
                      <p:nvPr/>
                    </p:nvPicPr>
                    <p:blipFill>
                      <a:blip r:embed="rId25"/>
                      <a:stretch>
                        <a:fillRect/>
                      </a:stretch>
                    </p:blipFill>
                    <p:spPr>
                      <a:xfrm>
                        <a:off x="2472373" y="4396688"/>
                        <a:ext cx="109855" cy="116205"/>
                      </a:xfrm>
                      <a:prstGeom prst="rect">
                        <a:avLst/>
                      </a:prstGeom>
                    </p:spPr>
                  </p:pic>
                </p:oleObj>
              </mc:Fallback>
            </mc:AlternateContent>
          </a:graphicData>
        </a:graphic>
      </p:graphicFrame>
      <p:sp>
        <p:nvSpPr>
          <p:cNvPr id="69" name="文本框 68"/>
          <p:cNvSpPr txBox="1"/>
          <p:nvPr/>
        </p:nvSpPr>
        <p:spPr>
          <a:xfrm>
            <a:off x="121285" y="4562475"/>
            <a:ext cx="2542540" cy="352425"/>
          </a:xfrm>
          <a:prstGeom prst="rect">
            <a:avLst/>
          </a:prstGeom>
        </p:spPr>
        <p:txBody>
          <a:bodyPr wrap="square">
            <a:spAutoFit/>
          </a:bodyPr>
          <a:p>
            <a:pPr marL="0" indent="0">
              <a:spcBef>
                <a:spcPct val="0"/>
              </a:spcBef>
              <a:spcAft>
                <a:spcPct val="0"/>
              </a:spcAft>
            </a:pPr>
            <a:r>
              <a:rPr lang="en-US" altLang="zh-CN" sz="850">
                <a:latin typeface="Times New Roman" panose="02020603050405020304" pitchFamily="18" charset="0"/>
                <a:cs typeface="Times New Roman" panose="02020603050405020304" pitchFamily="18" charset="0"/>
              </a:rPr>
              <a:t>The superimposed symbols are transmitted through the channel to the UE, resulting in the received signal</a:t>
            </a:r>
            <a:endParaRPr lang="en-US" altLang="zh-CN" sz="850">
              <a:latin typeface="Times New Roman" panose="02020603050405020304" pitchFamily="18" charset="0"/>
              <a:cs typeface="Times New Roman" panose="02020603050405020304" pitchFamily="18" charset="0"/>
            </a:endParaRPr>
          </a:p>
        </p:txBody>
      </p:sp>
      <p:sp>
        <p:nvSpPr>
          <p:cNvPr id="70" name="文本框 69"/>
          <p:cNvSpPr txBox="1"/>
          <p:nvPr/>
        </p:nvSpPr>
        <p:spPr>
          <a:xfrm>
            <a:off x="6762115" y="1060450"/>
            <a:ext cx="2286635" cy="321945"/>
          </a:xfrm>
          <a:prstGeom prst="rect">
            <a:avLst/>
          </a:prstGeom>
        </p:spPr>
        <p:txBody>
          <a:bodyPr wrap="square">
            <a:spAutoFit/>
          </a:bodyPr>
          <a:p>
            <a:pPr marL="171450" indent="-171450">
              <a:spcBef>
                <a:spcPct val="0"/>
              </a:spcBef>
              <a:spcAft>
                <a:spcPct val="0"/>
              </a:spcAft>
              <a:buFont typeface="Wingdings" panose="05000000000000000000" charset="0"/>
              <a:buChar char="Ø"/>
            </a:pPr>
            <a:r>
              <a:rPr lang="en-US" altLang="zh-CN" sz="750" b="1">
                <a:latin typeface="Times New Roman" panose="02020603050405020304" pitchFamily="18" charset="0"/>
                <a:cs typeface="Times New Roman" panose="02020603050405020304" pitchFamily="18" charset="0"/>
              </a:rPr>
              <a:t>Angle rotation</a:t>
            </a:r>
            <a:r>
              <a:rPr lang="en-US" altLang="zh-CN" sz="750">
                <a:latin typeface="Times New Roman" panose="02020603050405020304" pitchFamily="18" charset="0"/>
                <a:cs typeface="Times New Roman" panose="02020603050405020304" pitchFamily="18" charset="0"/>
              </a:rPr>
              <a:t>: Different small-angle rotations are applied to all symbols within an OFDM frame.</a:t>
            </a:r>
            <a:endParaRPr lang="en-US" altLang="zh-CN" sz="750">
              <a:latin typeface="Times New Roman" panose="02020603050405020304" pitchFamily="18" charset="0"/>
              <a:cs typeface="Times New Roman" panose="02020603050405020304" pitchFamily="18" charset="0"/>
            </a:endParaRPr>
          </a:p>
        </p:txBody>
      </p:sp>
      <p:sp>
        <p:nvSpPr>
          <p:cNvPr id="71" name="文本框 70"/>
          <p:cNvSpPr txBox="1"/>
          <p:nvPr/>
        </p:nvSpPr>
        <p:spPr>
          <a:xfrm>
            <a:off x="6761480" y="1452245"/>
            <a:ext cx="2286635" cy="437515"/>
          </a:xfrm>
          <a:prstGeom prst="rect">
            <a:avLst/>
          </a:prstGeom>
        </p:spPr>
        <p:txBody>
          <a:bodyPr wrap="square">
            <a:spAutoFit/>
          </a:bodyPr>
          <a:p>
            <a:pPr marL="171450" indent="-171450">
              <a:spcBef>
                <a:spcPct val="0"/>
              </a:spcBef>
              <a:spcAft>
                <a:spcPct val="0"/>
              </a:spcAft>
              <a:buFont typeface="Wingdings" panose="05000000000000000000" charset="0"/>
              <a:buChar char="Ø"/>
            </a:pPr>
            <a:r>
              <a:rPr lang="en-US" altLang="zh-CN" sz="750" b="1">
                <a:latin typeface="Times New Roman" panose="02020603050405020304" pitchFamily="18" charset="0"/>
                <a:cs typeface="Times New Roman" panose="02020603050405020304" pitchFamily="18" charset="0"/>
              </a:rPr>
              <a:t>Time-domain shuffling</a:t>
            </a:r>
            <a:r>
              <a:rPr lang="en-US" altLang="zh-CN" sz="750">
                <a:latin typeface="Times New Roman" panose="02020603050405020304" pitchFamily="18" charset="0"/>
                <a:cs typeface="Times New Roman" panose="02020603050405020304" pitchFamily="18" charset="0"/>
              </a:rPr>
              <a:t>: The received signal, pilot matrix, and bitstream are shuffled in the time domain according to the same rules.</a:t>
            </a:r>
            <a:endParaRPr lang="en-US" altLang="zh-CN" sz="750">
              <a:latin typeface="Times New Roman" panose="02020603050405020304" pitchFamily="18" charset="0"/>
              <a:cs typeface="Times New Roman" panose="02020603050405020304" pitchFamily="18" charset="0"/>
            </a:endParaRPr>
          </a:p>
        </p:txBody>
      </p:sp>
      <p:sp>
        <p:nvSpPr>
          <p:cNvPr id="72" name="文本框 71"/>
          <p:cNvSpPr txBox="1"/>
          <p:nvPr/>
        </p:nvSpPr>
        <p:spPr>
          <a:xfrm>
            <a:off x="6762115" y="1924685"/>
            <a:ext cx="2308860" cy="437515"/>
          </a:xfrm>
          <a:prstGeom prst="rect">
            <a:avLst/>
          </a:prstGeom>
        </p:spPr>
        <p:txBody>
          <a:bodyPr wrap="square">
            <a:spAutoFit/>
          </a:bodyPr>
          <a:p>
            <a:pPr marL="171450" indent="-171450">
              <a:spcBef>
                <a:spcPct val="0"/>
              </a:spcBef>
              <a:spcAft>
                <a:spcPct val="0"/>
              </a:spcAft>
              <a:buFont typeface="Wingdings" panose="05000000000000000000" charset="0"/>
              <a:buChar char="Ø"/>
            </a:pPr>
            <a:r>
              <a:rPr lang="en-US" altLang="zh-CN" sz="750" b="1">
                <a:latin typeface="Times New Roman" panose="02020603050405020304" pitchFamily="18" charset="0"/>
                <a:cs typeface="Times New Roman" panose="02020603050405020304" pitchFamily="18" charset="0"/>
              </a:rPr>
              <a:t>Data flipping</a:t>
            </a:r>
            <a:r>
              <a:rPr lang="en-US" altLang="zh-CN" sz="750">
                <a:latin typeface="Times New Roman" panose="02020603050405020304" pitchFamily="18" charset="0"/>
                <a:cs typeface="Times New Roman" panose="02020603050405020304" pitchFamily="18" charset="0"/>
              </a:rPr>
              <a:t>: Symmetric flipping is performed on the user dimension of the pilot matrix and the bitstream matrix.</a:t>
            </a:r>
            <a:endParaRPr lang="en-US" altLang="zh-CN" sz="750">
              <a:latin typeface="Times New Roman" panose="02020603050405020304" pitchFamily="18" charset="0"/>
              <a:cs typeface="Times New Roman" panose="02020603050405020304" pitchFamily="18" charset="0"/>
            </a:endParaRPr>
          </a:p>
        </p:txBody>
      </p:sp>
      <p:graphicFrame>
        <p:nvGraphicFramePr>
          <p:cNvPr id="73" name="对象 72"/>
          <p:cNvGraphicFramePr/>
          <p:nvPr/>
        </p:nvGraphicFramePr>
        <p:xfrm>
          <a:off x="7020243" y="2307538"/>
          <a:ext cx="1734820" cy="385445"/>
        </p:xfrm>
        <a:graphic>
          <a:graphicData uri="http://schemas.openxmlformats.org/presentationml/2006/ole">
            <mc:AlternateContent xmlns:mc="http://schemas.openxmlformats.org/markup-compatibility/2006">
              <mc:Choice xmlns:v="urn:schemas-microsoft-com:vml" Requires="v">
                <p:oleObj spid="_x0000_s74" name="" r:id="rId26" imgW="1765300" imgH="419100" progId="Equation.DSMT4">
                  <p:embed/>
                </p:oleObj>
              </mc:Choice>
              <mc:Fallback>
                <p:oleObj name="" r:id="rId26" imgW="1765300" imgH="419100" progId="Equation.DSMT4">
                  <p:embed/>
                  <p:pic>
                    <p:nvPicPr>
                      <p:cNvPr id="0" name="图片 73"/>
                      <p:cNvPicPr/>
                      <p:nvPr/>
                    </p:nvPicPr>
                    <p:blipFill>
                      <a:blip r:embed="rId27"/>
                      <a:stretch>
                        <a:fillRect/>
                      </a:stretch>
                    </p:blipFill>
                    <p:spPr>
                      <a:xfrm>
                        <a:off x="7020243" y="2307538"/>
                        <a:ext cx="1734820" cy="385445"/>
                      </a:xfrm>
                      <a:prstGeom prst="rect">
                        <a:avLst/>
                      </a:prstGeom>
                    </p:spPr>
                  </p:pic>
                </p:oleObj>
              </mc:Fallback>
            </mc:AlternateContent>
          </a:graphicData>
        </a:graphic>
      </p:graphicFrame>
      <p:graphicFrame>
        <p:nvGraphicFramePr>
          <p:cNvPr id="75" name="对象 74"/>
          <p:cNvGraphicFramePr/>
          <p:nvPr/>
        </p:nvGraphicFramePr>
        <p:xfrm>
          <a:off x="7146290" y="1823668"/>
          <a:ext cx="1518285" cy="164465"/>
        </p:xfrm>
        <a:graphic>
          <a:graphicData uri="http://schemas.openxmlformats.org/presentationml/2006/ole">
            <mc:AlternateContent xmlns:mc="http://schemas.openxmlformats.org/markup-compatibility/2006">
              <mc:Choice xmlns:v="urn:schemas-microsoft-com:vml" Requires="v">
                <p:oleObj spid="_x0000_s76" name="" r:id="rId28" imgW="1548765" imgH="203200" progId="Equation.DSMT4">
                  <p:embed/>
                </p:oleObj>
              </mc:Choice>
              <mc:Fallback>
                <p:oleObj name="" r:id="rId28" imgW="1548765" imgH="203200" progId="Equation.DSMT4">
                  <p:embed/>
                  <p:pic>
                    <p:nvPicPr>
                      <p:cNvPr id="0" name="图片 75"/>
                      <p:cNvPicPr/>
                      <p:nvPr/>
                    </p:nvPicPr>
                    <p:blipFill>
                      <a:blip r:embed="rId29"/>
                      <a:stretch>
                        <a:fillRect/>
                      </a:stretch>
                    </p:blipFill>
                    <p:spPr>
                      <a:xfrm>
                        <a:off x="7146290" y="1823668"/>
                        <a:ext cx="1518285" cy="164465"/>
                      </a:xfrm>
                      <a:prstGeom prst="rect">
                        <a:avLst/>
                      </a:prstGeom>
                    </p:spPr>
                  </p:pic>
                </p:oleObj>
              </mc:Fallback>
            </mc:AlternateContent>
          </a:graphicData>
        </a:graphic>
      </p:graphicFrame>
      <p:graphicFrame>
        <p:nvGraphicFramePr>
          <p:cNvPr id="77" name="对象 76"/>
          <p:cNvGraphicFramePr/>
          <p:nvPr/>
        </p:nvGraphicFramePr>
        <p:xfrm>
          <a:off x="7336473" y="1315350"/>
          <a:ext cx="1125220" cy="206375"/>
        </p:xfrm>
        <a:graphic>
          <a:graphicData uri="http://schemas.openxmlformats.org/presentationml/2006/ole">
            <mc:AlternateContent xmlns:mc="http://schemas.openxmlformats.org/markup-compatibility/2006">
              <mc:Choice xmlns:v="urn:schemas-microsoft-com:vml" Requires="v">
                <p:oleObj spid="_x0000_s78" name="" r:id="rId30" imgW="1155700" imgH="241300" progId="Equation.DSMT4">
                  <p:embed/>
                </p:oleObj>
              </mc:Choice>
              <mc:Fallback>
                <p:oleObj name="" r:id="rId30" imgW="1155700" imgH="241300" progId="Equation.DSMT4">
                  <p:embed/>
                  <p:pic>
                    <p:nvPicPr>
                      <p:cNvPr id="0" name="图片 77"/>
                      <p:cNvPicPr/>
                      <p:nvPr/>
                    </p:nvPicPr>
                    <p:blipFill>
                      <a:blip r:embed="rId31"/>
                      <a:stretch>
                        <a:fillRect/>
                      </a:stretch>
                    </p:blipFill>
                    <p:spPr>
                      <a:xfrm>
                        <a:off x="7336473" y="1315350"/>
                        <a:ext cx="1125220" cy="206375"/>
                      </a:xfrm>
                      <a:prstGeom prst="rect">
                        <a:avLst/>
                      </a:prstGeom>
                    </p:spPr>
                  </p:pic>
                </p:oleObj>
              </mc:Fallback>
            </mc:AlternateContent>
          </a:graphicData>
        </a:graphic>
      </p:graphicFrame>
      <p:sp>
        <p:nvSpPr>
          <p:cNvPr id="79" name="文本框 78"/>
          <p:cNvSpPr txBox="1"/>
          <p:nvPr/>
        </p:nvSpPr>
        <p:spPr>
          <a:xfrm>
            <a:off x="4499610" y="4535170"/>
            <a:ext cx="1154430" cy="275590"/>
          </a:xfrm>
          <a:prstGeom prst="rect">
            <a:avLst/>
          </a:prstGeom>
        </p:spPr>
        <p:txBody>
          <a:bodyPr wrap="square">
            <a:spAutoFit/>
          </a:bodyPr>
          <a:p>
            <a:r>
              <a:rPr lang="en-US" altLang="zh-CN" sz="1200">
                <a:latin typeface="Times New Roman" panose="02020603050405020304" pitchFamily="18" charset="0"/>
                <a:cs typeface="Times New Roman" panose="02020603050405020304" pitchFamily="18" charset="0"/>
              </a:rPr>
              <a:t>That is all</a:t>
            </a:r>
            <a:r>
              <a:rPr lang="zh-CN" altLang="en-US" sz="1200">
                <a:latin typeface="Times New Roman" panose="02020603050405020304" pitchFamily="18" charset="0"/>
                <a:cs typeface="Times New Roman" panose="02020603050405020304" pitchFamily="18" charset="0"/>
              </a:rPr>
              <a:t>！！！</a:t>
            </a:r>
            <a:endParaRPr lang="zh-CN" altLang="en-US" sz="120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15517"/>
    </mc:Choice>
    <mc:Fallback>
      <p:transition spd="slow" advTm="15517"/>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2922</Words>
  <Application>WPS 演示</Application>
  <PresentationFormat>宽屏</PresentationFormat>
  <Paragraphs>46</Paragraphs>
  <Slides>1</Slides>
  <Notes>19</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11</vt:i4>
      </vt:variant>
      <vt:variant>
        <vt:lpstr>幻灯片标题</vt:lpstr>
      </vt:variant>
      <vt:variant>
        <vt:i4>1</vt:i4>
      </vt:variant>
    </vt:vector>
  </HeadingPairs>
  <TitlesOfParts>
    <vt:vector size="25" baseType="lpstr">
      <vt:lpstr>Arial</vt:lpstr>
      <vt:lpstr>宋体</vt:lpstr>
      <vt:lpstr>Wingdings</vt:lpstr>
      <vt:lpstr>Calibri</vt:lpstr>
      <vt:lpstr>Arial</vt:lpstr>
      <vt:lpstr>Times New Roman</vt:lpstr>
      <vt:lpstr>Wingdings</vt:lpstr>
      <vt:lpstr>NimbusRomNo9L-Regu</vt:lpstr>
      <vt:lpstr>Segoe Print</vt:lpstr>
      <vt:lpstr>微软雅黑</vt:lpstr>
      <vt:lpstr>Arial Unicode MS</vt:lpstr>
      <vt:lpstr>Calibri Light</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Yesterday    once    more！！！</cp:lastModifiedBy>
  <cp:revision>1535</cp:revision>
  <dcterms:created xsi:type="dcterms:W3CDTF">2017-03-16T12:54:00Z</dcterms:created>
  <dcterms:modified xsi:type="dcterms:W3CDTF">2025-03-07T07:27:13Z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87C050A413434B44AE18AA675F5742B9_13</vt:lpwstr>
  </property>
</Properties>
</file>